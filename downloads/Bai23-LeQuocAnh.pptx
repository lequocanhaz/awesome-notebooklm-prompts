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Bài giảng gồm 25 slide. Thời lượng gợi ý 2 tiết; điều chỉnh theo kế hoạch của giáo viên. Lớp 23SVL được ghi theo thông tin cung cấp. Nội dung dành cho học sinh lớp 10.</a:t>
            </a:r>
          </a:p>
          <a:p/>
          <a:p>
            <a:r>
              <a:t>Nội dung nguồn người dùng cung cấp:</a:t>
            </a:r>
          </a:p>
          <a:p>
            <a:r>
              <a:t>TRANG BÌA</a:t>
            </a:r>
          </a:p>
          <a:p/>
          <a:p>
            <a:r>
              <a:t>CHỦ ĐỀ 4: NĂNG LƯỢNG, CÔNG, CÔNG SUẤT</a:t>
            </a:r>
          </a:p>
          <a:p/>
          <a:p>
            <a:r>
              <a:t>BÀI 23: NĂNG LƯỢNG VÀ CÔNG CƠ HỌC</a:t>
            </a:r>
          </a:p>
          <a:p/>
          <a:p>
            <a:r>
              <a:t>Vật lí 10 – Kết nối tri thức với cuộc sống.</a:t>
            </a:r>
          </a:p>
          <a:p/>
          <a:p>
            <a:r>
              <a:t>Thiết kế: nền giấy ô ly, xanh bảng, điểm nhấn vàng. Hình minh họa sơ đồ tự dựng; không phải ảnh chụp gốc.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Trò chơi khởi động Săn tìm năng lượng: 7 câu quan sát và kiến thức đời sống, không yêu cầu công thức hoặc dấu của công. Cho lớp 10–15 giây trao đổi từng câu, giơ A/B/C; giáo viên bấm đáp án. Có hoạt động xoa tay 5 giây. Phản hồi ngay, khóa lựa chọn sau khi trả lời. Kết thúc chọn Mở bài học hôm nay rồi dẫn vào Bài 23. Nếu mất mạng, mở web/index.html trong gói tải về.</a:t>
            </a:r>
          </a:p>
          <a:p/>
          <a:p>
            <a:r>
              <a:t>Nội dung nguồn người dùng cung cấp:</a:t>
            </a:r>
          </a:p>
          <a:p>
            <a:r>
              <a:t>KHỞI ĐỘNG</a:t>
            </a:r>
          </a:p>
          <a:p/>
          <a:p>
            <a:r>
              <a:t>GIỮ TẠ CŨNG MỆT, VẬY CÓ THỰC HIỆN CÔNG KHÔNG?</a:t>
            </a:r>
          </a:p>
          <a:p/>
          <a:p>
            <a:r>
              <a:t>Một vận động viên nâng quả tạ lên cao rồi giữ tạ đứng yên. Dù tạ không di chuyển, người đó vẫn cảm thấy mỏi và tiêu hao năng lượng.</a:t>
            </a:r>
          </a:p>
          <a:p/>
          <a:p>
            <a:r>
              <a:t>Thảo luận:</a:t>
            </a:r>
          </a:p>
          <a:p/>
          <a:p>
            <a:r>
              <a:t>1. Khi nâng tạ, năng lượng được truyền như thế nào?</a:t>
            </a:r>
          </a:p>
          <a:p>
            <a:r>
              <a:t>2. Khi giữ tạ đứng yên, lực nâng có thực hiện công lên quả tạ không?</a:t>
            </a:r>
          </a:p>
          <a:p/>
          <a:p>
            <a:r>
              <a:t>Thiết kế: nền giấy ô ly, xanh bảng, điểm nhấn vàng. Hình minh họa sơ đồ tự dựng; không phải ảnh chụp gốc.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học sinh quan sát thí nghiệm hoặc hình. Chưa đưa đáp án; chuyển slide tiếp theo sau khi học sinh nêu dự đoán.</a:t>
            </a:r>
          </a:p>
          <a:p/>
          <a:p>
            <a:r>
              <a:t>Nội dung nguồn người dùng cung cấp:</a:t>
            </a:r>
          </a:p>
          <a:p>
            <a:r>
              <a:t>QUẢ BÓNG NẢY</a:t>
            </a:r>
          </a:p>
          <a:p/>
          <a:p>
            <a:r>
              <a:t>VÌ SAO BÓNG NẢY THẤP DẦN?</a:t>
            </a:r>
          </a:p>
          <a:p/>
          <a:p>
            <a:r>
              <a:t>Thả một quả bóng xuống nền nhà. Sau mỗi lần va chạm, bóng nảy lên với độ cao nhỏ hơn.</a:t>
            </a:r>
          </a:p>
          <a:p/>
          <a:p>
            <a:r>
              <a:t>Câu hỏi:</a:t>
            </a:r>
          </a:p>
          <a:p/>
          <a:p>
            <a:r>
              <a:t>1. Cơ năng của bóng thay đổi như thế nào?</a:t>
            </a:r>
          </a:p>
          <a:p>
            <a:r>
              <a:t>2. Phần cơ năng giảm đi đã chuyển hóa thành những dạng năng lượng nào?</a:t>
            </a:r>
          </a:p>
          <a:p/>
          <a:p>
            <a:r>
              <a:t>Thiết kế: nền giấy ô ly, xanh bảng, điểm nhấn vàng. Hình minh họa sơ đồ tự dựng; không phải ảnh chụp gốc.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rõ: khi xét đầy đủ hệ và môi trường, tổng năng lượng được bảo toàn; cơ năng của một vật có thể giảm do chuyển hóa sang các dạng năng lượng khác.</a:t>
            </a:r>
          </a:p>
          <a:p/>
          <a:p>
            <a:r>
              <a:t>Nội dung nguồn người dùng cung cấp:</a:t>
            </a:r>
          </a:p>
          <a:p>
            <a:r>
              <a:t>ĐỊNH LUẬT BẢO TOÀN NĂNG LƯỢNG</a:t>
            </a:r>
          </a:p>
          <a:p/>
          <a:p>
            <a:r>
              <a:t>NĂNG LƯỢNG KHÔNG TỰ SINH RA VÀ KHÔNG TỰ MẤT ĐI.</a:t>
            </a:r>
          </a:p>
          <a:p/>
          <a:p>
            <a:r>
              <a:t>Năng lượng chỉ chuyển hóa từ dạng này sang dạng khác hoặc truyền từ vật này sang vật khác.</a:t>
            </a:r>
          </a:p>
          <a:p/>
          <a:p>
            <a:r>
              <a:t>Thiết kế: nền giấy ô ly, xanh bảng, điểm nhấn vàng. Hình minh họa sơ đồ tự dựng; không phải ảnh chụp gốc.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Yêu cầu xác định dạng năng lượng ban đầu và các dạng năng lượng sau chuyển hóa. Cho học sinh trao đổi cặp đôi; chưa mở slide gợi ý.</a:t>
            </a:r>
          </a:p>
          <a:p/>
          <a:p>
            <a:r>
              <a:t>Nội dung nguồn người dùng cung cấp:</a:t>
            </a:r>
          </a:p>
          <a:p>
            <a:r>
              <a:t>LUYỆN TẬP</a:t>
            </a:r>
          </a:p>
          <a:p/>
          <a:p>
            <a:r>
              <a:t>XÁC ĐỊNH SỰ CHUYỂN HÓA NĂNG LƯỢNG</a:t>
            </a:r>
          </a:p>
          <a:p/>
          <a:p>
            <a:r>
              <a:t>1. Bàn là điện hoạt động.</a:t>
            </a:r>
          </a:p>
          <a:p>
            <a:r>
              <a:t>2. Pin mặt trời tạo ra điện năng.</a:t>
            </a:r>
          </a:p>
          <a:p>
            <a:r>
              <a:t>3. Cây xanh quang hợp.</a:t>
            </a:r>
          </a:p>
          <a:p>
            <a:r>
              <a:t>4. Pháo hoa phát nổ.</a:t>
            </a:r>
          </a:p>
          <a:p/>
          <a:p>
            <a:r>
              <a:t>Trong mỗi trường hợp, năng lượng ban đầu chuyển hóa thành những dạng năng lượng nào?</a:t>
            </a:r>
          </a:p>
          <a:p/>
          <a:p>
            <a:r>
              <a:t>Thiết kế: nền giấy ô ly, xanh bảng, điểm nhấn vàng. Hình minh họa sơ đồ tự dựng; không phải ảnh chụp gốc.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chuyển ý. Học sinh có thể nêu truyền nhiệt hoặc thực hiện công. Chưa chốt định nghĩa; dẫn vào hoạt động đẩy sách.</a:t>
            </a:r>
          </a:p>
          <a:p/>
          <a:p>
            <a:r>
              <a:t>Nội dung nguồn người dùng cung cấp:</a:t>
            </a:r>
          </a:p>
          <a:p>
            <a:r>
              <a:t>CÔNG CƠ HỌC</a:t>
            </a:r>
          </a:p>
          <a:p/>
          <a:p>
            <a:r>
              <a:t>II. CÔNG CƠ HỌC</a:t>
            </a:r>
          </a:p>
          <a:p/>
          <a:p>
            <a:r>
              <a:t>Câu hỏi: Có những cách nào để truyền năng lượng từ vật này sang vật khác?</a:t>
            </a:r>
          </a:p>
          <a:p/>
          <a:p>
            <a:r>
              <a:t>Thiết kế: nền giấy ô ly, xanh bảng, điểm nhấn vàng. Hình minh họa sơ đồ tự dựng; không phải ảnh chụp gốc.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Hình minh họa thể hiện sách và các vectơ lực, độ dịch chuyển. Có thể dùng sách thật. Chỉ xét công của lực tay; phân biệt với công của lực ma sát.</a:t>
            </a:r>
          </a:p>
          <a:p/>
          <a:p>
            <a:r>
              <a:t>Nội dung nguồn người dùng cung cấp:</a:t>
            </a:r>
          </a:p>
          <a:p>
            <a:r>
              <a:t>HOẠT ĐỘNG KHÁM PHÁ</a:t>
            </a:r>
          </a:p>
          <a:p/>
          <a:p>
            <a:r>
              <a:t>ĐẨY MỘT CUỐN SÁCH TRÊN BÀN</a:t>
            </a:r>
          </a:p>
          <a:p/>
          <a:p>
            <a:r>
              <a:t>Dùng tay đẩy cuốn sách để sách dịch chuyển trên mặt bàn.</a:t>
            </a:r>
          </a:p>
          <a:p/>
          <a:p>
            <a:r>
              <a:t>Thảo luận:</a:t>
            </a:r>
          </a:p>
          <a:p/>
          <a:p>
            <a:r>
              <a:t>1. Lực của tay tác dụng lên sách làm sách thay đổi như thế nào?</a:t>
            </a:r>
          </a:p>
          <a:p>
            <a:r>
              <a:t>2. Năng lượng được truyền từ tay sang sách bằng cách nào?</a:t>
            </a:r>
          </a:p>
          <a:p/>
          <a:p>
            <a:r>
              <a:t>Thiết kế: nền giấy ô ly, xanh bảng, điểm nhấn vàng. Hình minh họa sơ đồ tự dựng; không phải ảnh chụp gốc.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Có thể giải bằng định lí động năng: A_máy + A_trọng_lực = ΔWđ = 0, A_trọng_lực = −mgh nên A_máy = mgh. Không giả định máy nâng có lực không đổi nếu đề chưa cho; chỉ xét tổng công. ΔWₜ là độ tăng thế năng trọng trường.</a:t>
            </a:r>
          </a:p>
          <a:p/>
          <a:p>
            <a:r>
              <a:t>Nội dung nguồn người dùng cung cấp:</a:t>
            </a:r>
          </a:p>
          <a:p>
            <a:r>
              <a:t>LỜI GIẢI VÍ DỤ 2</a:t>
            </a:r>
          </a:p>
          <a:p/>
          <a:p>
            <a:r>
              <a:t>Đổi đơn vị:</a:t>
            </a:r>
          </a:p>
          <a:p/>
          <a:p>
            <a:r>
              <a:t>m = 1,5 tấn = 1 500 kg.</a:t>
            </a:r>
          </a:p>
          <a:p/>
          <a:p>
            <a:r>
              <a:t>Công tối thiểu của máy nâng bằng độ tăng thế năng của ô tô:</a:t>
            </a:r>
          </a:p>
          <a:p/>
          <a:p>
            <a:r>
              <a:t>A = mgh</a:t>
            </a:r>
          </a:p>
          <a:p/>
          <a:p>
            <a:r>
              <a:t>A = 1 500·10·1,6</a:t>
            </a:r>
          </a:p>
          <a:p/>
          <a:p>
            <a:r>
              <a:t>A = 24 000 J = 24 kJ.</a:t>
            </a:r>
          </a:p>
          <a:p/>
          <a:p>
            <a:r>
              <a:t>Thiết kế: nền giấy ô ly, xanh bảng, điểm nhấn vàng. Hình minh họa sơ đồ tự dựng; không phải ảnh chụp gốc.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phần vận dụng sau khi học, không phải nội dung yêu cầu học sinh trả lời ở trò chơi mở đầu. Liên hệ lại 7 hiện tượng; chú ý cơ năng bóng giảm nhưng tổng năng lượng của hệ và môi trường bảo toàn. Quạt cũng tỏa nhiệt và phát âm; bảng nêu chuyển hóa chính. Khi đẩy sách, chỉ xét công của lực tay.</a:t>
            </a:r>
          </a:p>
          <a:p/>
          <a:p>
            <a:r>
              <a:t>Nội dung nguồn người dùng cung cấp:</a:t>
            </a:r>
          </a:p>
          <a:p>
            <a:r>
              <a:t>TRỞ LẠI TÌNH HUỐNG MỞ ĐẦU</a:t>
            </a:r>
          </a:p>
          <a:p/>
          <a:p>
            <a:r>
              <a:t>GIỮ TẠ ĐỨNG YÊN CÓ THỰC HIỆN CÔNG KHÔNG?</a:t>
            </a:r>
          </a:p>
          <a:p/>
          <a:p>
            <a:r>
              <a:t>- Khi tạ đi lên, lực nâng thực hiện công lên tạ.</a:t>
            </a:r>
          </a:p>
          <a:p>
            <a:r>
              <a:t>- Khi tạ đứng yên, độ dịch chuyển của tạ bằng 0 nên công của lực nâng lên tạ bằng 0.</a:t>
            </a:r>
          </a:p>
          <a:p>
            <a:r>
              <a:t>- Cơ thể vẫn tiêu hao năng lượng để duy trì hoạt động của cơ bắp.</a:t>
            </a:r>
          </a:p>
          <a:p/>
          <a:p>
            <a:r>
              <a:t>Thiết kế: nền giấy ô ly, xanh bảng, điểm nhấn vàng. Hình minh họa sơ đồ tự dựng; không phải ảnh chụp gốc.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Nội dung nguồn người dùng cung cấp:</a:t>
            </a:r>
          </a:p>
          <a:p>
            <a:r>
              <a:t>NỘI DUNG BÀI HỌC</a:t>
            </a:r>
          </a:p>
          <a:p/>
          <a:p>
            <a:r>
              <a:t>I. NĂNG LƯỢNG</a:t>
            </a:r>
          </a:p>
          <a:p/>
          <a:p>
            <a:r>
              <a:t>- Sự truyền và chuyển hóa năng lượng.</a:t>
            </a:r>
          </a:p>
          <a:p>
            <a:r>
              <a:t>- Định luật bảo toàn năng lượng.</a:t>
            </a:r>
          </a:p>
          <a:p/>
          <a:p>
            <a:r>
              <a:t>II. CÔNG CƠ HỌC</a:t>
            </a:r>
          </a:p>
          <a:p/>
          <a:p>
            <a:r>
              <a:t>- Thực hiện công.</a:t>
            </a:r>
          </a:p>
          <a:p>
            <a:r>
              <a:t>- Công thức tính công.</a:t>
            </a:r>
          </a:p>
          <a:p>
            <a:r>
              <a:t>- Vận dụng.</a:t>
            </a:r>
          </a:p>
          <a:p/>
          <a:p>
            <a:r>
              <a:t>Thiết kế: nền giấy ô ly, xanh bảng, điểm nhấn vàng. Hình minh họa sơ đồ tự dựng; không phải ảnh chụp gốc.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Nội dung nguồn người dùng cung cấp:</a:t>
            </a:r>
          </a:p>
          <a:p>
            <a:r>
              <a:t>NĂNG LƯỢNG TRONG ĐỜI SỐNG</a:t>
            </a:r>
          </a:p>
          <a:p/>
          <a:p>
            <a:r>
              <a:t>Quan sát các hiện tượng:</a:t>
            </a:r>
          </a:p>
          <a:p/>
          <a:p>
            <a:r>
              <a:t>1. Đun nước bằng ấm điện.</a:t>
            </a:r>
          </a:p>
          <a:p>
            <a:r>
              <a:t>2. Xoa hai bàn tay vào nhau.</a:t>
            </a:r>
          </a:p>
          <a:p>
            <a:r>
              <a:t>3. Thả một quả bóng nảy trên nền nhà.</a:t>
            </a:r>
          </a:p>
          <a:p/>
          <a:p>
            <a:r>
              <a:t>Câu hỏi: Trong mỗi hiện tượng, năng lượng được truyền và chuyển hóa như thế nào?</a:t>
            </a:r>
          </a:p>
          <a:p/>
          <a:p>
            <a:r>
              <a:t>Thiết kế: nền giấy ô ly, xanh bảng, điểm nhấn vàng. Hình minh họa sơ đồ tự dựng; không phải ảnh chụp gốc.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Nội dung nguồn người dùng cung cấp:</a:t>
            </a:r>
          </a:p>
          <a:p>
            <a:r>
              <a:t>ĐUN NƯỚC BẰNG ẤM ĐIỆN</a:t>
            </a:r>
          </a:p>
          <a:p/>
          <a:p>
            <a:r>
              <a:t>ĐIỆN NĂNG CHUYỂN HÓA THÀNH NỘI NĂNG</a:t>
            </a:r>
          </a:p>
          <a:p/>
          <a:p>
            <a:r>
              <a:t>Khi ấm điện hoạt động:</a:t>
            </a:r>
          </a:p>
          <a:p/>
          <a:p>
            <a:r>
              <a:t>- Điện năng chuyển hóa chủ yếu thành nội năng của bộ phận đốt nóng.</a:t>
            </a:r>
          </a:p>
          <a:p>
            <a:r>
              <a:t>- Năng lượng được truyền từ ấm sang nước, làm nước nóng lên.</a:t>
            </a:r>
          </a:p>
          <a:p>
            <a:r>
              <a:t>- Một phần năng lượng truyền ra môi trường.</a:t>
            </a:r>
          </a:p>
          <a:p/>
          <a:p>
            <a:r>
              <a:t>Thiết kế: nền giấy ô ly, xanh bảng, điểm nhấn vàng. Hình minh họa sơ đồ tự dựng; không phải ảnh chụp gốc.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Nội dung nguồn người dùng cung cấp:</a:t>
            </a:r>
          </a:p>
          <a:p>
            <a:r>
              <a:t>XOA HAI BÀN TAY</a:t>
            </a:r>
          </a:p>
          <a:p/>
          <a:p>
            <a:r>
              <a:t>CƠ NĂNG CHUYỂN HÓA THÀNH NỘI NĂNG</a:t>
            </a:r>
          </a:p>
          <a:p/>
          <a:p>
            <a:r>
              <a:t>Khi xoa hai bàn tay vào nhau:</a:t>
            </a:r>
          </a:p>
          <a:p/>
          <a:p>
            <a:r>
              <a:t>- Hai bàn tay chuyển động và cọ xát.</a:t>
            </a:r>
          </a:p>
          <a:p>
            <a:r>
              <a:t>- Một phần cơ năng chuyển hóa thành nội năng.</a:t>
            </a:r>
          </a:p>
          <a:p>
            <a:r>
              <a:t>- Nhiệt độ của hai bàn tay tăng lên.</a:t>
            </a:r>
          </a:p>
          <a:p/>
          <a:p>
            <a:r>
              <a:t>Thiết kế: nền giấy ô ly, xanh bảng, điểm nhấn vàng. Hình minh họa sơ đồ tự dựng; không phải ảnh chụp gốc.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Nội dung nguồn người dùng cung cấp:</a:t>
            </a:r>
          </a:p>
          <a:p>
            <a:r>
              <a:t>GIẢI THÍCH HIỆN TƯỢNG</a:t>
            </a:r>
          </a:p>
          <a:p/>
          <a:p>
            <a:r>
              <a:t>CƠ NĂNG GIẢM, NĂNG LƯỢNG VẪN ĐƯỢC BẢO TOÀN</a:t>
            </a:r>
          </a:p>
          <a:p/>
          <a:p>
            <a:r>
              <a:t>- Khi va chạm, bóng và nền bị biến dạng; đồng thời phát ra âm thanh và nóng lên.</a:t>
            </a:r>
          </a:p>
          <a:p>
            <a:r>
              <a:t>- Một phần cơ năng chuyển hóa thành nội năng và năng lượng âm thanh.</a:t>
            </a:r>
          </a:p>
          <a:p>
            <a:r>
              <a:t>- Vì cơ năng giảm nên bóng nảy lên thấp dần.</a:t>
            </a:r>
          </a:p>
          <a:p/>
          <a:p>
            <a:r>
              <a:t>Thiết kế: nền giấy ô ly, xanh bảng, điểm nhấn vàng. Hình minh họa sơ đồ tự dựng; không phải ảnh chụp gốc.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Nội dung nguồn người dùng cung cấp:</a:t>
            </a:r>
          </a:p>
          <a:p>
            <a:r>
              <a:t>SỰ TRUYỀN VÀ CHUYỂN HÓA NĂNG LƯỢNG</a:t>
            </a:r>
          </a:p>
          <a:p/>
          <a:p>
            <a:r>
              <a:t>Năng lượng có thể:</a:t>
            </a:r>
          </a:p>
          <a:p/>
          <a:p>
            <a:r>
              <a:t>- Truyền từ vật này sang vật khác.</a:t>
            </a:r>
          </a:p>
          <a:p>
            <a:r>
              <a:t>- Chuyển hóa từ dạng này sang dạng khác.</a:t>
            </a:r>
          </a:p>
          <a:p/>
          <a:p>
            <a:r>
              <a:t>Ví dụ:</a:t>
            </a:r>
          </a:p>
          <a:p/>
          <a:p>
            <a:r>
              <a:t>- Ấm điện truyền năng lượng cho nước.</a:t>
            </a:r>
          </a:p>
          <a:p>
            <a:r>
              <a:t>- Pin mặt trời chuyển quang năng thành điện năng.</a:t>
            </a:r>
          </a:p>
          <a:p/>
          <a:p>
            <a:r>
              <a:t>Thiết kế: nền giấy ô ly, xanh bảng, điểm nhấn vàng. Hình minh họa sơ đồ tự dựng; không phải ảnh chụp gốc.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Nội dung nguồn người dùng cung cấp:</a:t>
            </a:r>
          </a:p>
          <a:p>
            <a:r>
              <a:t>GỢI Ý TRẢ LỜI</a:t>
            </a:r>
          </a:p>
          <a:p/>
          <a:p>
            <a:r>
              <a:t>- Bàn là điện: điện năng chuyển hóa thành nội năng.</a:t>
            </a:r>
          </a:p>
          <a:p>
            <a:r>
              <a:t>- Pin mặt trời: quang năng chuyển hóa thành điện năng.</a:t>
            </a:r>
          </a:p>
          <a:p>
            <a:r>
              <a:t>- Cây xanh quang hợp: quang năng chuyển hóa thành hóa năng.</a:t>
            </a:r>
          </a:p>
          <a:p>
            <a:r>
              <a:t>- Pháo hoa: hóa năng chuyển hóa thành năng lượng ánh sáng, âm thanh, nhiệt và động năng.</a:t>
            </a:r>
          </a:p>
          <a:p/>
          <a:p>
            <a:r>
              <a:t>Thiết kế: nền giấy ô ly, xanh bảng, điểm nhấn vàng. Hình minh họa sơ đồ tự dựng; không phải ảnh chụp gốc.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Nội dung nguồn người dùng cung cấp:</a:t>
            </a:r>
          </a:p>
          <a:p>
            <a:r>
              <a:t>THỰC HIỆN CÔNG</a:t>
            </a:r>
          </a:p>
          <a:p/>
          <a:p>
            <a:r>
              <a:t>CÔNG LÀ MỘT CÁCH TRUYỀN NĂNG LƯỢNG</a:t>
            </a:r>
          </a:p>
          <a:p/>
          <a:p>
            <a:r>
              <a:t>Khi tay đẩy làm cuốn sách dịch chuyển, lực của tay đã thực hiện công lên sách.</a:t>
            </a:r>
          </a:p>
          <a:p/>
          <a:p>
            <a:r>
              <a:t>Công là số đo phần năng lượng được truyền hoặc chuyển hóa trong quá trình thực hiện công.</a:t>
            </a:r>
          </a:p>
          <a:p/>
          <a:p>
            <a:r>
              <a:t>Đơn vị của công là jun, kí hiệu J.</a:t>
            </a:r>
          </a:p>
          <a:p/>
          <a:p>
            <a:r>
              <a:t>1 J = 1 N·m</a:t>
            </a:r>
          </a:p>
          <a:p/>
          <a:p>
            <a:r>
              <a:t>Thiết kế: nền giấy ô ly, xanh bảng, điểm nhấn vàng. Hình minh họa sơ đồ tự dựng; không phải ảnh chụp gốc.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Nội dung nguồn người dùng cung cấp:</a:t>
            </a:r>
          </a:p>
          <a:p>
            <a:r>
              <a:t>KHI NÀO LỰC KHÔNG THỰC HIỆN CÔNG?</a:t>
            </a:r>
          </a:p>
          <a:p/>
          <a:p>
            <a:r>
              <a:t>Xét hai trường hợp:</a:t>
            </a:r>
          </a:p>
          <a:p/>
          <a:p>
            <a:r>
              <a:t>- Vật không dịch chuyển.</a:t>
            </a:r>
          </a:p>
          <a:p>
            <a:r>
              <a:t>- Lực vuông góc với hướng dịch chuyển của vật.</a:t>
            </a:r>
          </a:p>
          <a:p/>
          <a:p>
            <a:r>
              <a:t>Trong hai trường hợp trên, công của lực bằng 0.</a:t>
            </a:r>
          </a:p>
          <a:p/>
          <a:p>
            <a:r>
              <a:t>Ví dụ: Lực nâng tác dụng lên quả tạ đang được giữ đứng yên không thực hiện công lên quả tạ.</a:t>
            </a:r>
          </a:p>
          <a:p/>
          <a:p>
            <a:r>
              <a:t>Thiết kế: nền giấy ô ly, xanh bảng, điểm nhấn vàng. Hình minh họa sơ đồ tự dựng; không phải ảnh chụp gốc.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Nội dung nguồn người dùng cung cấp:</a:t>
            </a:r>
          </a:p>
          <a:p>
            <a:r>
              <a:t>CÔNG THỨC TÍNH CÔNG</a:t>
            </a:r>
          </a:p>
          <a:p/>
          <a:p>
            <a:r>
              <a:t>CÔNG CỦA LỰC KHÔNG ĐỔI</a:t>
            </a:r>
          </a:p>
          <a:p/>
          <a:p>
            <a:r>
              <a:t>Khi lực không đổi tác dụng lên vật và vật dịch chuyển thẳng:</a:t>
            </a:r>
          </a:p>
          <a:p/>
          <a:p>
            <a:r>
              <a:t>A = F·s·cosα</a:t>
            </a:r>
          </a:p>
          <a:p/>
          <a:p>
            <a:r>
              <a:t>Trong đó:</a:t>
            </a:r>
          </a:p>
          <a:p/>
          <a:p>
            <a:r>
              <a:t>- A: công của lực, đơn vị J.</a:t>
            </a:r>
          </a:p>
          <a:p>
            <a:r>
              <a:t>- F: độ lớn của lực, đơn vị N.</a:t>
            </a:r>
          </a:p>
          <a:p>
            <a:r>
              <a:t>- s: độ lớn độ dịch chuyển, đơn vị m.</a:t>
            </a:r>
          </a:p>
          <a:p>
            <a:r>
              <a:t>- α: góc giữa lực và hướng dịch chuyển.</a:t>
            </a:r>
          </a:p>
          <a:p/>
          <a:p>
            <a:r>
              <a:t>Thiết kế: nền giấy ô ly, xanh bảng, điểm nhấn vàng. Hình minh họa sơ đồ tự dựng; không phải ảnh chụp gốc.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Nội dung nguồn người dùng cung cấp:</a:t>
            </a:r>
          </a:p>
          <a:p>
            <a:r>
              <a:t>DẤU CỦA CÔNG</a:t>
            </a:r>
          </a:p>
          <a:p/>
          <a:p>
            <a:r>
              <a:t>CÔNG PHÁT ĐỘNG VÀ CÔNG CẢN</a:t>
            </a:r>
          </a:p>
          <a:p/>
          <a:p>
            <a:r>
              <a:t>- 0° ≤ α &lt; 90°: A &gt; 0, công phát động.</a:t>
            </a:r>
          </a:p>
          <a:p>
            <a:r>
              <a:t>- α = 90°: A = 0, lực không thực hiện công.</a:t>
            </a:r>
          </a:p>
          <a:p>
            <a:r>
              <a:t>- 90° &lt; α ≤ 180°: A &lt; 0, công cản.</a:t>
            </a:r>
          </a:p>
          <a:p/>
          <a:p>
            <a:r>
              <a:t>Thiết kế: nền giấy ô ly, xanh bảng, điểm nhấn vàng. Hình minh họa sơ đồ tự dựng; không phải ảnh chụp gốc.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Nội dung nguồn người dùng cung cấp:</a:t>
            </a:r>
          </a:p>
          <a:p>
            <a:r>
              <a:t>VÍ DỤ 1</a:t>
            </a:r>
          </a:p>
          <a:p/>
          <a:p>
            <a:r>
              <a:t>KÉO MỘT THÙNG HÀNG</a:t>
            </a:r>
          </a:p>
          <a:p/>
          <a:p>
            <a:r>
              <a:t>Một người kéo thùng hàng bằng lực không đổi có độ lớn 50 N. Lực kéo hợp với hướng dịch chuyển góc 60°. Thùng dịch chuyển thẳng được 4 m.</a:t>
            </a:r>
          </a:p>
          <a:p/>
          <a:p>
            <a:r>
              <a:t>Tính công của lực kéo.</a:t>
            </a:r>
          </a:p>
          <a:p/>
          <a:p>
            <a:r>
              <a:t>Thiết kế: nền giấy ô ly, xanh bảng, điểm nhấn vàng. Hình minh họa sơ đồ tự dựng; không phải ảnh chụp gốc.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Nội dung nguồn người dùng cung cấp:</a:t>
            </a:r>
          </a:p>
          <a:p>
            <a:r>
              <a:t>LỜI GIẢI VÍ DỤ 1</a:t>
            </a:r>
          </a:p>
          <a:p/>
          <a:p>
            <a:r>
              <a:t>Ta có:</a:t>
            </a:r>
          </a:p>
          <a:p/>
          <a:p>
            <a:r>
              <a:t>A = F·s·cosα</a:t>
            </a:r>
          </a:p>
          <a:p/>
          <a:p>
            <a:r>
              <a:t>Thay số:</a:t>
            </a:r>
          </a:p>
          <a:p/>
          <a:p>
            <a:r>
              <a:t>A = 50·4·cos60°</a:t>
            </a:r>
          </a:p>
          <a:p/>
          <a:p>
            <a:r>
              <a:t>A = 100 J</a:t>
            </a:r>
          </a:p>
          <a:p/>
          <a:p>
            <a:r>
              <a:t>Công của lực kéo là công phát động.</a:t>
            </a:r>
          </a:p>
          <a:p/>
          <a:p>
            <a:r>
              <a:t>Thiết kế: nền giấy ô ly, xanh bảng, điểm nhấn vàng. Hình minh họa sơ đồ tự dựng; không phải ảnh chụp gốc.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Nội dung nguồn người dùng cung cấp:</a:t>
            </a:r>
          </a:p>
          <a:p>
            <a:r>
              <a:t>VÍ DỤ 2</a:t>
            </a:r>
          </a:p>
          <a:p/>
          <a:p>
            <a:r>
              <a:t>NÂNG Ô TÔ BẰNG MÁY NÂNG</a:t>
            </a:r>
          </a:p>
          <a:p/>
          <a:p>
            <a:r>
              <a:t>Một máy nâng đưa ô tô có khối lượng 1,5 tấn lên cao 1,6 m. Lấy g = 10 m/s².</a:t>
            </a:r>
          </a:p>
          <a:p/>
          <a:p>
            <a:r>
              <a:t>Bỏ qua hao phí; ô tô bắt đầu và kết thúc ở trạng thái nghỉ.</a:t>
            </a:r>
          </a:p>
          <a:p/>
          <a:p>
            <a:r>
              <a:t>Tính công tối thiểu của máy nâng.</a:t>
            </a:r>
          </a:p>
          <a:p/>
          <a:p>
            <a:r>
              <a:t>Thiết kế: nền giấy ô ly, xanh bảng, điểm nhấn vàng. Hình minh họa sơ đồ tự dựng; không phải ảnh chụp gốc.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Nội dung nguồn người dùng cung cấp:</a:t>
            </a:r>
          </a:p>
          <a:p>
            <a:r>
              <a:t>CỦNG CỐ</a:t>
            </a:r>
          </a:p>
          <a:p/>
          <a:p>
            <a:r>
              <a:t>1. Năng lượng có thể truyền và chuyển hóa như thế nào?</a:t>
            </a:r>
          </a:p>
          <a:p>
            <a:r>
              <a:t>2. Phát biểu định luật bảo toàn năng lượng.</a:t>
            </a:r>
          </a:p>
          <a:p>
            <a:r>
              <a:t>3. Viết công thức tính công của lực không đổi.</a:t>
            </a:r>
          </a:p>
          <a:p>
            <a:r>
              <a:t>4. Khi nào công của lực dương, âm hoặc bằng 0?</a:t>
            </a:r>
          </a:p>
          <a:p/>
          <a:p>
            <a:r>
              <a:t>Thiết kế: nền giấy ô ly, xanh bảng, điểm nhấn vàng. Hình minh họa sơ đồ tự dựng; không phải ảnh chụp gốc.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Nội dung nguồn người dùng cung cấp:</a:t>
            </a:r>
          </a:p>
          <a:p>
            <a:r>
              <a:t>NHIỆM VỤ VỀ NHÀ</a:t>
            </a:r>
          </a:p>
          <a:p/>
          <a:p>
            <a:r>
              <a:t>- Tìm hai ví dụ về sự truyền hoặc chuyển hóa năng lượng trong đời sống.</a:t>
            </a:r>
          </a:p>
          <a:p>
            <a:r>
              <a:t>- Làm các bài tập về công cơ học trong sách giáo khoa.</a:t>
            </a:r>
          </a:p>
          <a:p>
            <a:r>
              <a:t>- Chuẩn bị nội dung bài học tiếp theo.</a:t>
            </a:r>
          </a:p>
          <a:p/>
          <a:p>
            <a:r>
              <a:t>Thiết kế: nền giấy ô ly, xanh bảng, điểm nhấn vàng. Hình minh họa sơ đồ tự dựng; không phải ảnh chụp gốc.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lequocanhaz.github.io/awesome-notebookLM-prompts/" TargetMode="Externa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4E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228600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E8EDDB"/>
                </a:solidFill>
                <a:latin typeface="Noto Sans"/>
              </a:defRPr>
            </a:pPr>
            <a:r>
              <a:t>Chủ đề 4 · Năng lượng, công, công suất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19088"/>
            <a:ext cx="10881360" cy="10972"/>
          </a:xfrm>
          <a:prstGeom prst="rect">
            <a:avLst/>
          </a:prstGeom>
          <a:solidFill>
            <a:srgbClr val="4A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6675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DCE6DC"/>
                </a:solidFill>
                <a:latin typeface="Noto Sans"/>
              </a:defRPr>
            </a:pPr>
            <a:r>
              <a:t>Vật lí 10  |  GV. Lê Quốc Anh  |  Lớp 23SVL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196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DCE6DC"/>
                </a:solidFill>
                <a:latin typeface="Noto Sans"/>
              </a:defRPr>
            </a:pPr>
            <a:r>
              <a:t>01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F3D683"/>
                </a:solidFill>
                <a:latin typeface="Noto Sans"/>
              </a:defRPr>
            </a:pPr>
            <a:r>
              <a:t>Bài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80467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700" b="1">
                <a:solidFill>
                  <a:srgbClr val="FFFFFF"/>
                </a:solidFill>
                <a:latin typeface="Noto Sans"/>
              </a:defRPr>
            </a:pPr>
            <a:r>
              <a:t>Năng lượng</a:t>
            </a:r>
          </a:p>
          <a:p>
            <a:pPr>
              <a:spcAft>
                <a:spcPts val="1000"/>
              </a:spcAft>
              <a:defRPr sz="4700" b="1">
                <a:solidFill>
                  <a:srgbClr val="FFFFFF"/>
                </a:solidFill>
                <a:latin typeface="Noto Sans"/>
              </a:defRPr>
            </a:pPr>
            <a:r>
              <a:t>và công cơ học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29768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E2EBDF"/>
                </a:solidFill>
                <a:latin typeface="Noto Sans"/>
              </a:defRPr>
            </a:pPr>
            <a:r>
              <a:t>Vật lí 10 – Kết nối tri thức với cuộc sống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166360"/>
            <a:ext cx="74980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3D683"/>
                </a:solidFill>
                <a:latin typeface="Noto Sans"/>
              </a:defRPr>
            </a:pPr>
            <a:r>
              <a:t>Giáo viên: Lê Quốc Anh    |    Lớp: 23SVL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325880"/>
            <a:ext cx="2240280" cy="4434840"/>
          </a:xfrm>
          <a:prstGeom prst="roundRect">
            <a:avLst/>
          </a:prstGeom>
          <a:solidFill>
            <a:srgbClr val="236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8048" y="205740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6400" b="1">
                <a:solidFill>
                  <a:srgbClr val="FFFFFF"/>
                </a:solidFill>
                <a:latin typeface="Noto Sans"/>
              </a:defRPr>
            </a:pPr>
            <a:r>
              <a:t>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8048" y="329184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6400" b="1">
                <a:solidFill>
                  <a:srgbClr val="F3D683"/>
                </a:solidFill>
                <a:latin typeface="Noto Sans"/>
              </a:defRPr>
            </a:pPr>
            <a: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8048" y="457200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800" b="1">
                <a:solidFill>
                  <a:srgbClr val="FFFFFF"/>
                </a:solidFill>
                <a:latin typeface="Noto Sans"/>
              </a:defRPr>
            </a:pPr>
            <a:r>
              <a:t>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1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6002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9202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402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603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8803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5204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1605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4805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8006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1206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4406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7607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807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38912"/>
            <a:ext cx="73152" cy="228600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1685F"/>
                </a:solidFill>
                <a:latin typeface="Noto Sans"/>
              </a:defRPr>
            </a:pPr>
            <a:r>
              <a:t>Khởi động · 7 thử thách đời sống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886968"/>
            <a:ext cx="10927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4E43"/>
                </a:solidFill>
                <a:latin typeface="Noto Sans"/>
              </a:defRPr>
            </a:pPr>
            <a:r>
              <a:t>Săn tìm năng lượng!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19088"/>
            <a:ext cx="10881360" cy="10972"/>
          </a:xfrm>
          <a:prstGeom prst="rect">
            <a:avLst/>
          </a:prstGeom>
          <a:solidFill>
            <a:srgbClr val="D6E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37960"/>
            <a:ext cx="6675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Vật lí 10  |  GV. Lê Quốc Anh  |  Lớp 23SVL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5196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02 / 25</a:t>
            </a:r>
          </a:p>
        </p:txBody>
      </p:sp>
      <p:pic>
        <p:nvPicPr>
          <p:cNvPr id="30" name="Picture 29" descr="warmup-so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74519"/>
            <a:ext cx="4846320" cy="3256121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731520" y="2121408"/>
            <a:ext cx="82296" cy="82296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2011680"/>
            <a:ext cx="5239512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93E36"/>
                </a:solidFill>
                <a:latin typeface="Noto Sans"/>
              </a:defRPr>
            </a:pPr>
            <a:r>
              <a:t>Nhìn hình, làm động tác, chọn A / B / C.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127248"/>
            <a:ext cx="82296" cy="82296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3017520"/>
            <a:ext cx="5239512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93E36"/>
                </a:solidFill>
                <a:latin typeface="Noto Sans"/>
              </a:defRPr>
            </a:pPr>
            <a:r>
              <a:t>Mỗi câu đúng thắp sáng một tia năng lượng.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133088"/>
            <a:ext cx="82296" cy="82296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4023360"/>
            <a:ext cx="5239512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93E36"/>
                </a:solidFill>
                <a:latin typeface="Noto Sans"/>
              </a:defRPr>
            </a:pPr>
            <a:r>
              <a:t>Xem kết quả ngay; cùng mở bài học sau 7 câu.</a:t>
            </a:r>
          </a:p>
        </p:txBody>
      </p:sp>
      <p:sp>
        <p:nvSpPr>
          <p:cNvPr id="37" name="Rounded Rectangle 36">
            <a:hlinkClick r:id="rId3"/>
          </p:cNvPr>
          <p:cNvSpPr/>
          <p:nvPr/>
        </p:nvSpPr>
        <p:spPr>
          <a:xfrm>
            <a:off x="777240" y="5303520"/>
            <a:ext cx="4937760" cy="603504"/>
          </a:xfrm>
          <a:prstGeom prst="roundRect">
            <a:avLst/>
          </a:prstGeom>
          <a:solidFill>
            <a:srgbClr val="16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r:id="rId3"/>
          </p:cNvPr>
          <p:cNvSpPr txBox="1"/>
          <p:nvPr/>
        </p:nvSpPr>
        <p:spPr>
          <a:xfrm>
            <a:off x="987552" y="5404104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FFFFF"/>
                </a:solidFill>
                <a:latin typeface="Noto Sans"/>
              </a:defRPr>
            </a:pPr>
            <a:r>
              <a:t>Chơi trực tuyến · 7 thử thách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1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6002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9202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402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603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8803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5204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1605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4805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8006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1206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4406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7607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807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38912"/>
            <a:ext cx="73152" cy="228600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1685F"/>
                </a:solidFill>
                <a:latin typeface="Noto Sans"/>
              </a:defRPr>
            </a:pPr>
            <a:r>
              <a:t>Lộ trình bài học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886968"/>
            <a:ext cx="10927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4E43"/>
                </a:solidFill>
                <a:latin typeface="Noto Sans"/>
              </a:defRPr>
            </a:pPr>
            <a:r>
              <a:t>Hôm nay chúng ta khám phá điều gì?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19088"/>
            <a:ext cx="10881360" cy="10972"/>
          </a:xfrm>
          <a:prstGeom prst="rect">
            <a:avLst/>
          </a:prstGeom>
          <a:solidFill>
            <a:srgbClr val="D6E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37960"/>
            <a:ext cx="6675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Vật lí 10  |  GV. Lê Quốc Anh  |  Lớp 23SVL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5196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03 / 25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2011680"/>
            <a:ext cx="5166360" cy="3474720"/>
          </a:xfrm>
          <a:prstGeom prst="round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2176272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768A6"/>
                </a:solidFill>
                <a:latin typeface="Noto Sans"/>
              </a:defRPr>
            </a:pPr>
            <a: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" y="2651760"/>
            <a:ext cx="474573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164E43"/>
                </a:solidFill>
                <a:latin typeface="Noto Sans"/>
              </a:defRPr>
            </a:pPr>
            <a:r>
              <a:t>Năng lượng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" y="3520440"/>
            <a:ext cx="4745736" cy="1828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93E36"/>
                </a:solidFill>
                <a:latin typeface="Noto Sans"/>
              </a:defRPr>
            </a:pPr>
            <a:r>
              <a:t>Sự truyền và chuyển hóa năng lượng.</a:t>
            </a:r>
          </a:p>
          <a:p>
            <a:pPr>
              <a:spcAft>
                <a:spcPts val="1000"/>
              </a:spcAft>
              <a:defRPr sz="2200" b="0">
                <a:solidFill>
                  <a:srgbClr val="193E36"/>
                </a:solidFill>
                <a:latin typeface="Noto Sans"/>
              </a:defRPr>
            </a:pPr>
            <a:r>
              <a:t>Định luật bảo toàn năng lượng.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2011680"/>
            <a:ext cx="5166360" cy="3474720"/>
          </a:xfrm>
          <a:prstGeom prst="round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8232" y="2176272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768A6"/>
                </a:solidFill>
                <a:latin typeface="Noto Sans"/>
              </a:defRPr>
            </a:pPr>
            <a:r>
              <a:t>II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8232" y="2651760"/>
            <a:ext cx="474573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164E43"/>
                </a:solidFill>
                <a:latin typeface="Noto Sans"/>
              </a:defRPr>
            </a:pPr>
            <a:r>
              <a:t>Công cơ học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8232" y="3520440"/>
            <a:ext cx="4745736" cy="1828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93E36"/>
                </a:solidFill>
                <a:latin typeface="Noto Sans"/>
              </a:defRPr>
            </a:pPr>
            <a:r>
              <a:t>Thực hiện công.</a:t>
            </a:r>
          </a:p>
          <a:p>
            <a:pPr>
              <a:spcAft>
                <a:spcPts val="1000"/>
              </a:spcAft>
              <a:defRPr sz="2200" b="0">
                <a:solidFill>
                  <a:srgbClr val="193E36"/>
                </a:solidFill>
                <a:latin typeface="Noto Sans"/>
              </a:defRPr>
            </a:pPr>
            <a:r>
              <a:t>Công thức và dấu của công.</a:t>
            </a:r>
          </a:p>
          <a:p>
            <a:pPr>
              <a:spcAft>
                <a:spcPts val="1000"/>
              </a:spcAft>
              <a:defRPr sz="2200" b="0">
                <a:solidFill>
                  <a:srgbClr val="193E36"/>
                </a:solidFill>
                <a:latin typeface="Noto Sans"/>
              </a:defRPr>
            </a:pPr>
            <a:r>
              <a:t>Vận dụng giải thích, tính toán.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1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6002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9202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402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603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8803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5204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1605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4805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8006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1206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4406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7607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807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38912"/>
            <a:ext cx="73152" cy="228600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1685F"/>
                </a:solidFill>
                <a:latin typeface="Noto Sans"/>
              </a:defRPr>
            </a:pPr>
            <a:r>
              <a:t>Quan sát · Thảo luận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886968"/>
            <a:ext cx="10927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4E43"/>
                </a:solidFill>
                <a:latin typeface="Noto Sans"/>
              </a:defRPr>
            </a:pPr>
            <a:r>
              <a:t>Năng lượng trong đời sống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19088"/>
            <a:ext cx="10881360" cy="10972"/>
          </a:xfrm>
          <a:prstGeom prst="rect">
            <a:avLst/>
          </a:prstGeom>
          <a:solidFill>
            <a:srgbClr val="D6E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37960"/>
            <a:ext cx="6675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Vật lí 10  |  GV. Lê Quốc Anh  |  Lớp 23SVL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5196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04 / 25</a:t>
            </a:r>
          </a:p>
        </p:txBody>
      </p:sp>
      <p:pic>
        <p:nvPicPr>
          <p:cNvPr id="30" name="Picture 29" descr="ket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3291840" cy="221170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31520" y="420624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64E43"/>
                </a:solidFill>
                <a:latin typeface="Noto Sans"/>
              </a:defRPr>
            </a:pPr>
            <a:r>
              <a:t>Đun nước bằng ấm điện</a:t>
            </a:r>
          </a:p>
        </p:txBody>
      </p:sp>
      <p:pic>
        <p:nvPicPr>
          <p:cNvPr id="32" name="Picture 31" descr="ha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828800"/>
            <a:ext cx="3291840" cy="221170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434840" y="420624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64E43"/>
                </a:solidFill>
                <a:latin typeface="Noto Sans"/>
              </a:defRPr>
            </a:pPr>
            <a:r>
              <a:t>Xoa hai bàn tay</a:t>
            </a:r>
          </a:p>
        </p:txBody>
      </p:sp>
      <p:pic>
        <p:nvPicPr>
          <p:cNvPr id="34" name="Picture 33" descr="bou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828800"/>
            <a:ext cx="3291840" cy="221170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138160" y="420624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64E43"/>
                </a:solidFill>
                <a:latin typeface="Noto Sans"/>
              </a:defRPr>
            </a:pPr>
            <a:r>
              <a:t>Thả bóng nảy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532120"/>
            <a:ext cx="10698480" cy="557784"/>
          </a:xfrm>
          <a:prstGeom prst="round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623559"/>
            <a:ext cx="10287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4E43"/>
                </a:solidFill>
                <a:latin typeface="Noto Sans"/>
              </a:defRPr>
            </a:pPr>
            <a:r>
              <a:t>Trong mỗi hiện tượng, năng lượng được truyền và chuyển hóa như thế nào?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1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6002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9202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402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603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8803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5204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1605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4805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8006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1206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4406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7607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807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38912"/>
            <a:ext cx="73152" cy="228600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1685F"/>
                </a:solidFill>
                <a:latin typeface="Noto Sans"/>
              </a:defRPr>
            </a:pPr>
            <a:r>
              <a:t>I. Năng lượng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886968"/>
            <a:ext cx="10927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4E43"/>
                </a:solidFill>
                <a:latin typeface="Noto Sans"/>
              </a:defRPr>
            </a:pPr>
            <a:r>
              <a:t>Đun nước bằng ấm điện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19088"/>
            <a:ext cx="10881360" cy="10972"/>
          </a:xfrm>
          <a:prstGeom prst="rect">
            <a:avLst/>
          </a:prstGeom>
          <a:solidFill>
            <a:srgbClr val="D6E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37960"/>
            <a:ext cx="6675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Vật lí 10  |  GV. Lê Quốc Anh  |  Lớp 23SVL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5196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05 / 25</a:t>
            </a:r>
          </a:p>
        </p:txBody>
      </p:sp>
      <p:pic>
        <p:nvPicPr>
          <p:cNvPr id="30" name="Picture 29" descr="ket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28800"/>
            <a:ext cx="5029200" cy="3378994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731520" y="2121408"/>
            <a:ext cx="82296" cy="82296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2011680"/>
            <a:ext cx="5148072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93E36"/>
                </a:solidFill>
                <a:latin typeface="Noto Sans"/>
              </a:defRPr>
            </a:pPr>
            <a:r>
              <a:t>Điện năng chuyển hóa chủ yếu thành nội năng của bộ phận đốt nóng.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264408"/>
            <a:ext cx="82296" cy="82296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3154680"/>
            <a:ext cx="5148072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93E36"/>
                </a:solidFill>
                <a:latin typeface="Noto Sans"/>
              </a:defRPr>
            </a:pPr>
            <a:r>
              <a:t>Năng lượng truyền từ ấm sang nước, làm nước nóng lên.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407408"/>
            <a:ext cx="82296" cy="82296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4297680"/>
            <a:ext cx="5148072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93E36"/>
                </a:solidFill>
                <a:latin typeface="Noto Sans"/>
              </a:defRPr>
            </a:pPr>
            <a:r>
              <a:t>Một phần năng lượng truyền ra môi trường.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532120"/>
            <a:ext cx="10698480" cy="557784"/>
          </a:xfrm>
          <a:prstGeom prst="round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5623559"/>
            <a:ext cx="10287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4E43"/>
                </a:solidFill>
                <a:latin typeface="Noto Sans"/>
              </a:defRPr>
            </a:pPr>
            <a:r>
              <a:t>Điện năng → nội năng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1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6002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9202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402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603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8803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5204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1605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4805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8006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1206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4406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7607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807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38912"/>
            <a:ext cx="73152" cy="228600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1685F"/>
                </a:solidFill>
                <a:latin typeface="Noto Sans"/>
              </a:defRPr>
            </a:pPr>
            <a:r>
              <a:t>I. Năng lượng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886968"/>
            <a:ext cx="10927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4E43"/>
                </a:solidFill>
                <a:latin typeface="Noto Sans"/>
              </a:defRPr>
            </a:pPr>
            <a:r>
              <a:t>Vì sao xoa tay lại thấy ấm?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19088"/>
            <a:ext cx="10881360" cy="10972"/>
          </a:xfrm>
          <a:prstGeom prst="rect">
            <a:avLst/>
          </a:prstGeom>
          <a:solidFill>
            <a:srgbClr val="D6E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37960"/>
            <a:ext cx="6675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Vật lí 10  |  GV. Lê Quốc Anh  |  Lớp 23SVL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5196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06 / 25</a:t>
            </a:r>
          </a:p>
        </p:txBody>
      </p:sp>
      <p:pic>
        <p:nvPicPr>
          <p:cNvPr id="30" name="Picture 29" descr="h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28800"/>
            <a:ext cx="5029200" cy="3378994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731520" y="2121408"/>
            <a:ext cx="82296" cy="82296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2011680"/>
            <a:ext cx="5148072" cy="9784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193E36"/>
                </a:solidFill>
                <a:latin typeface="Noto Sans"/>
              </a:defRPr>
            </a:pPr>
            <a:r>
              <a:t>Hai bàn tay chuyển động và cọ xát.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172968"/>
            <a:ext cx="82296" cy="82296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3063240"/>
            <a:ext cx="5148072" cy="9784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193E36"/>
                </a:solidFill>
                <a:latin typeface="Noto Sans"/>
              </a:defRPr>
            </a:pPr>
            <a:r>
              <a:t>Một phần cơ năng chuyển hóa thành nội năng.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224528"/>
            <a:ext cx="82296" cy="82296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4114800"/>
            <a:ext cx="5148072" cy="9784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193E36"/>
                </a:solidFill>
                <a:latin typeface="Noto Sans"/>
              </a:defRPr>
            </a:pPr>
            <a:r>
              <a:t>Nhiệt độ của hai bàn tay tăng lên.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532120"/>
            <a:ext cx="10698480" cy="557784"/>
          </a:xfrm>
          <a:prstGeom prst="round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5623559"/>
            <a:ext cx="10287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4E43"/>
                </a:solidFill>
                <a:latin typeface="Noto Sans"/>
              </a:defRPr>
            </a:pPr>
            <a:r>
              <a:t>Cơ năng → nội năng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1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6002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9202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402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603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8803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5204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1605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4805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8006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1206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4406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7607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807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38912"/>
            <a:ext cx="73152" cy="228600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1685F"/>
                </a:solidFill>
                <a:latin typeface="Noto Sans"/>
              </a:defRPr>
            </a:pPr>
            <a:r>
              <a:t>Câu hỏi khám phá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886968"/>
            <a:ext cx="10927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4E43"/>
                </a:solidFill>
                <a:latin typeface="Noto Sans"/>
              </a:defRPr>
            </a:pPr>
            <a:r>
              <a:t>Vì sao bóng nảy thấp dần?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19088"/>
            <a:ext cx="10881360" cy="10972"/>
          </a:xfrm>
          <a:prstGeom prst="rect">
            <a:avLst/>
          </a:prstGeom>
          <a:solidFill>
            <a:srgbClr val="D6E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37960"/>
            <a:ext cx="6675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Vật lí 10  |  GV. Lê Quốc Anh  |  Lớp 23SVL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5196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07 / 25</a:t>
            </a:r>
          </a:p>
        </p:txBody>
      </p:sp>
      <p:pic>
        <p:nvPicPr>
          <p:cNvPr id="30" name="Picture 29" descr="bou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965960"/>
            <a:ext cx="5486400" cy="368617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77240" y="1965960"/>
            <a:ext cx="50292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600" b="0">
                <a:solidFill>
                  <a:srgbClr val="193E36"/>
                </a:solidFill>
                <a:latin typeface="Noto Sans"/>
              </a:defRPr>
            </a:pPr>
            <a:r>
              <a:t>Sau mỗi lần va chạm, bóng nảy lên với độ cao nhỏ hơn.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630168"/>
            <a:ext cx="82296" cy="82296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" y="3520440"/>
            <a:ext cx="4873752" cy="9784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93E36"/>
                </a:solidFill>
                <a:latin typeface="Noto Sans"/>
              </a:defRPr>
            </a:pPr>
            <a:r>
              <a:t>Cơ năng của bóng thay đổi như thế nào?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681728"/>
            <a:ext cx="82296" cy="82296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" y="4572000"/>
            <a:ext cx="4873752" cy="9784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93E36"/>
                </a:solidFill>
                <a:latin typeface="Noto Sans"/>
              </a:defRPr>
            </a:pPr>
            <a:r>
              <a:t>Phần cơ năng giảm đi chuyển hóa thành những dạng năng lượng nào?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1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6002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9202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402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603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8803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5204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1605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4805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8006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1206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4406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7607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807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38912"/>
            <a:ext cx="73152" cy="228600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1685F"/>
                </a:solidFill>
                <a:latin typeface="Noto Sans"/>
              </a:defRPr>
            </a:pPr>
            <a:r>
              <a:t>Giải thích hiện tượng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886968"/>
            <a:ext cx="10927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4E43"/>
                </a:solidFill>
                <a:latin typeface="Noto Sans"/>
              </a:defRPr>
            </a:pPr>
            <a:r>
              <a:t>Cơ năng giảm, năng lượng vẫn bảo toàn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19088"/>
            <a:ext cx="10881360" cy="10972"/>
          </a:xfrm>
          <a:prstGeom prst="rect">
            <a:avLst/>
          </a:prstGeom>
          <a:solidFill>
            <a:srgbClr val="D6E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37960"/>
            <a:ext cx="6675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Vật lí 10  |  GV. Lê Quốc Anh  |  Lớp 23SVL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5196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08 / 25</a:t>
            </a:r>
          </a:p>
        </p:txBody>
      </p:sp>
      <p:pic>
        <p:nvPicPr>
          <p:cNvPr id="30" name="Picture 29" descr="bou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20240"/>
            <a:ext cx="4937760" cy="3317558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731520" y="2121408"/>
            <a:ext cx="82296" cy="82296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2011680"/>
            <a:ext cx="5148072" cy="10241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93E36"/>
                </a:solidFill>
                <a:latin typeface="Noto Sans"/>
              </a:defRPr>
            </a:pPr>
            <a:r>
              <a:t>Va chạm làm bóng và nền biến dạng, phát ra âm thanh và nóng lên.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218688"/>
            <a:ext cx="82296" cy="82296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3108960"/>
            <a:ext cx="5148072" cy="10241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93E36"/>
                </a:solidFill>
                <a:latin typeface="Noto Sans"/>
              </a:defRPr>
            </a:pPr>
            <a:r>
              <a:t>Một phần cơ năng chuyển hóa thành nội năng và năng lượng âm thanh.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315968"/>
            <a:ext cx="82296" cy="82296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4206240"/>
            <a:ext cx="5148072" cy="10241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93E36"/>
                </a:solidFill>
                <a:latin typeface="Noto Sans"/>
              </a:defRPr>
            </a:pPr>
            <a:r>
              <a:t>Cơ năng giảm nên độ cao nảy giảm.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532120"/>
            <a:ext cx="10698480" cy="557784"/>
          </a:xfrm>
          <a:prstGeom prst="round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5623559"/>
            <a:ext cx="10287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4E43"/>
                </a:solidFill>
                <a:latin typeface="Noto Sans"/>
              </a:defRPr>
            </a:pPr>
            <a:r>
              <a:t>Xét cả bóng, nền và môi trường: năng lượng không biến mất.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1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6002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9202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402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603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8803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5204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1605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4805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8006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1206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4406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7607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807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38912"/>
            <a:ext cx="73152" cy="228600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1685F"/>
                </a:solidFill>
                <a:latin typeface="Noto Sans"/>
              </a:defRPr>
            </a:pPr>
            <a:r>
              <a:t>I. Năng lượng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886968"/>
            <a:ext cx="10927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4E43"/>
                </a:solidFill>
                <a:latin typeface="Noto Sans"/>
              </a:defRPr>
            </a:pPr>
            <a:r>
              <a:t>Truyền năng lượng và chuyển hóa năng lượng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19088"/>
            <a:ext cx="10881360" cy="10972"/>
          </a:xfrm>
          <a:prstGeom prst="rect">
            <a:avLst/>
          </a:prstGeom>
          <a:solidFill>
            <a:srgbClr val="D6E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37960"/>
            <a:ext cx="6675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Vật lí 10  |  GV. Lê Quốc Anh  |  Lớp 23SVL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5196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09 / 25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1920240"/>
            <a:ext cx="5166360" cy="3520440"/>
          </a:xfrm>
          <a:prstGeom prst="round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2103120"/>
            <a:ext cx="474573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164E43"/>
                </a:solidFill>
                <a:latin typeface="Noto Sans"/>
              </a:defRPr>
            </a:pPr>
            <a:r>
              <a:t>Truyền năng lượng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" y="2971800"/>
            <a:ext cx="4745736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93E36"/>
                </a:solidFill>
                <a:latin typeface="Noto Sans"/>
              </a:defRPr>
            </a:pPr>
            <a:r>
              <a:t>Từ vật này sang vật khác.</a:t>
            </a:r>
          </a:p>
          <a:p>
            <a:pPr>
              <a:spcAft>
                <a:spcPts val="1000"/>
              </a:spcAft>
              <a:defRPr sz="2200" b="0">
                <a:solidFill>
                  <a:srgbClr val="193E36"/>
                </a:solidFill>
                <a:latin typeface="Noto Sans"/>
              </a:defRPr>
            </a:pPr>
          </a:p>
          <a:p>
            <a:pPr>
              <a:spcAft>
                <a:spcPts val="1000"/>
              </a:spcAft>
              <a:defRPr sz="2200" b="0">
                <a:solidFill>
                  <a:srgbClr val="193E36"/>
                </a:solidFill>
                <a:latin typeface="Noto Sans"/>
              </a:defRPr>
            </a:pPr>
            <a:r>
              <a:t>Ví dụ: Ấm truyền năng lượng cho nước.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1920240"/>
            <a:ext cx="5166360" cy="3520440"/>
          </a:xfrm>
          <a:prstGeom prst="round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2" y="2103120"/>
            <a:ext cx="474573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164E43"/>
                </a:solidFill>
                <a:latin typeface="Noto Sans"/>
              </a:defRPr>
            </a:pPr>
            <a:r>
              <a:t>Chuyển hóa năng lượng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2" y="2971800"/>
            <a:ext cx="4745736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93E36"/>
                </a:solidFill>
                <a:latin typeface="Noto Sans"/>
              </a:defRPr>
            </a:pPr>
            <a:r>
              <a:t>Từ dạng này sang dạng khác.</a:t>
            </a:r>
          </a:p>
          <a:p>
            <a:pPr>
              <a:spcAft>
                <a:spcPts val="1000"/>
              </a:spcAft>
              <a:defRPr sz="2200" b="0">
                <a:solidFill>
                  <a:srgbClr val="193E36"/>
                </a:solidFill>
                <a:latin typeface="Noto Sans"/>
              </a:defRPr>
            </a:pPr>
          </a:p>
          <a:p>
            <a:pPr>
              <a:spcAft>
                <a:spcPts val="1000"/>
              </a:spcAft>
              <a:defRPr sz="2200" b="0">
                <a:solidFill>
                  <a:srgbClr val="193E36"/>
                </a:solidFill>
                <a:latin typeface="Noto Sans"/>
              </a:defRPr>
            </a:pPr>
            <a:r>
              <a:t>Ví dụ: Pin mặt trời biến quang năng thành điện năng.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4E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228600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E8EDDB"/>
                </a:solidFill>
                <a:latin typeface="Noto Sans"/>
              </a:defRPr>
            </a:pPr>
            <a:r>
              <a:t>Kiến thức cốt lõi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86968"/>
            <a:ext cx="10927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FFFFFF"/>
                </a:solidFill>
                <a:latin typeface="Noto Sans"/>
              </a:defRPr>
            </a:pPr>
            <a:r>
              <a:t>Định luật bảo toàn năng lượng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881360" cy="10972"/>
          </a:xfrm>
          <a:prstGeom prst="rect">
            <a:avLst/>
          </a:prstGeom>
          <a:solidFill>
            <a:srgbClr val="4A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6675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DCE6DC"/>
                </a:solidFill>
                <a:latin typeface="Noto Sans"/>
              </a:defRPr>
            </a:pPr>
            <a:r>
              <a:t>Vật lí 10  |  GV. Lê Quốc Anh  |  Lớp 23SVL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196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DCE6DC"/>
                </a:solidFill>
                <a:latin typeface="Noto Sans"/>
              </a:defRPr>
            </a:pPr>
            <a:r>
              <a:t>10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104241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FFFFFF"/>
                </a:solidFill>
                <a:latin typeface="Noto Sans"/>
              </a:defRPr>
            </a:pPr>
            <a:r>
              <a:t>Năng lượng không tự sinh ra</a:t>
            </a:r>
          </a:p>
          <a:p>
            <a:pPr>
              <a:spcAft>
                <a:spcPts val="1000"/>
              </a:spcAft>
              <a:defRPr sz="3800" b="1">
                <a:solidFill>
                  <a:srgbClr val="FFFFFF"/>
                </a:solidFill>
                <a:latin typeface="Noto Sans"/>
              </a:defRPr>
            </a:pPr>
            <a:r>
              <a:t>và không tự mất đi.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776472"/>
            <a:ext cx="1097280" cy="64008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251960"/>
            <a:ext cx="1024128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0">
                <a:solidFill>
                  <a:srgbClr val="E7EDE2"/>
                </a:solidFill>
                <a:latin typeface="Noto Sans"/>
              </a:defRPr>
            </a:pPr>
            <a:r>
              <a:t>Năng lượng chỉ chuyển hóa từ dạng này sang dạng khác hoặc truyền từ vật này sang vật khác.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1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6002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9202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402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603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8803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5204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1605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4805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8006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1206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4406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7607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807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38912"/>
            <a:ext cx="73152" cy="228600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1685F"/>
                </a:solidFill>
                <a:latin typeface="Noto Sans"/>
              </a:defRPr>
            </a:pPr>
            <a:r>
              <a:t>Luyện tập · Dự đoán trước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886968"/>
            <a:ext cx="10927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4E43"/>
                </a:solidFill>
                <a:latin typeface="Noto Sans"/>
              </a:defRPr>
            </a:pPr>
            <a:r>
              <a:t>Năng lượng đã chuyển hóa như thế nào?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19088"/>
            <a:ext cx="10881360" cy="10972"/>
          </a:xfrm>
          <a:prstGeom prst="rect">
            <a:avLst/>
          </a:prstGeom>
          <a:solidFill>
            <a:srgbClr val="D6E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37960"/>
            <a:ext cx="6675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Vật lí 10  |  GV. Lê Quốc Anh  |  Lớp 23SVL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5196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11 / 25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1874519"/>
            <a:ext cx="5166360" cy="1691640"/>
          </a:xfrm>
          <a:prstGeom prst="round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2057400"/>
            <a:ext cx="474573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164E43"/>
                </a:solidFill>
                <a:latin typeface="Noto Sans"/>
              </a:defRPr>
            </a:pPr>
            <a:r>
              <a:t>Bàn là điện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" y="2926080"/>
            <a:ext cx="474573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93E36"/>
                </a:solidFill>
                <a:latin typeface="Noto Sans"/>
              </a:defRPr>
            </a:pPr>
            <a:r>
              <a:t>Khi bàn là hoạt động.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1874519"/>
            <a:ext cx="5166360" cy="1691640"/>
          </a:xfrm>
          <a:prstGeom prst="round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2" y="2057400"/>
            <a:ext cx="474573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164E43"/>
                </a:solidFill>
                <a:latin typeface="Noto Sans"/>
              </a:defRPr>
            </a:pPr>
            <a:r>
              <a:t>Pin mặt trời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2" y="2926080"/>
            <a:ext cx="474573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93E36"/>
                </a:solidFill>
                <a:latin typeface="Noto Sans"/>
              </a:defRPr>
            </a:pPr>
            <a:r>
              <a:t>Khi pin tạo ra điện.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3749039"/>
            <a:ext cx="5166360" cy="1691640"/>
          </a:xfrm>
          <a:prstGeom prst="round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" y="3931920"/>
            <a:ext cx="474573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164E43"/>
                </a:solidFill>
                <a:latin typeface="Noto Sans"/>
              </a:defRPr>
            </a:pPr>
            <a:r>
              <a:t>Cây xanh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" y="4800600"/>
            <a:ext cx="474573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93E36"/>
                </a:solidFill>
                <a:latin typeface="Noto Sans"/>
              </a:defRPr>
            </a:pPr>
            <a:r>
              <a:t>Khi cây quang hợp.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3749039"/>
            <a:ext cx="5166360" cy="1691640"/>
          </a:xfrm>
          <a:prstGeom prst="round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28232" y="3931920"/>
            <a:ext cx="474573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164E43"/>
                </a:solidFill>
                <a:latin typeface="Noto Sans"/>
              </a:defRPr>
            </a:pPr>
            <a:r>
              <a:t>Pháo hoa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8232" y="4800600"/>
            <a:ext cx="474573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93E36"/>
                </a:solidFill>
                <a:latin typeface="Noto Sans"/>
              </a:defRPr>
            </a:pPr>
            <a:r>
              <a:t>Khi pháo hoa phát nổ.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1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6002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9202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402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603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8803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5204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1605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4805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8006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1206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4406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7607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807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38912"/>
            <a:ext cx="73152" cy="228600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1685F"/>
                </a:solidFill>
                <a:latin typeface="Noto Sans"/>
              </a:defRPr>
            </a:pPr>
            <a:r>
              <a:t>Gợi ý trả lời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886968"/>
            <a:ext cx="10927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4E43"/>
                </a:solidFill>
                <a:latin typeface="Noto Sans"/>
              </a:defRPr>
            </a:pPr>
            <a:r>
              <a:t>Đối chiếu những dự đoán của 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19088"/>
            <a:ext cx="10881360" cy="10972"/>
          </a:xfrm>
          <a:prstGeom prst="rect">
            <a:avLst/>
          </a:prstGeom>
          <a:solidFill>
            <a:srgbClr val="D6E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37960"/>
            <a:ext cx="6675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Vật lí 10  |  GV. Lê Quốc Anh  |  Lớp 23SVL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5196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12 / 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1828800"/>
            <a:ext cx="3657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164E43"/>
                </a:solidFill>
                <a:latin typeface="Noto Sans"/>
              </a:defRPr>
            </a:pPr>
            <a:r>
              <a:t>Bàn là điện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1828800"/>
            <a:ext cx="6675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93E36"/>
                </a:solidFill>
                <a:latin typeface="Noto Sans"/>
              </a:defRPr>
            </a:pPr>
            <a:r>
              <a:t>Điện năng → nội năng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2770632"/>
            <a:ext cx="3657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164E43"/>
                </a:solidFill>
                <a:latin typeface="Noto Sans"/>
              </a:defRPr>
            </a:pPr>
            <a:r>
              <a:t>Pin mặt trời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2770632"/>
            <a:ext cx="6675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93E36"/>
                </a:solidFill>
                <a:latin typeface="Noto Sans"/>
              </a:defRPr>
            </a:pPr>
            <a:r>
              <a:t>Quang năng → điện năng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3712464"/>
            <a:ext cx="3657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164E43"/>
                </a:solidFill>
                <a:latin typeface="Noto Sans"/>
              </a:defRPr>
            </a:pPr>
            <a:r>
              <a:t>Cây xanh quang hợp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3712464"/>
            <a:ext cx="6675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93E36"/>
                </a:solidFill>
                <a:latin typeface="Noto Sans"/>
              </a:defRPr>
            </a:pPr>
            <a:r>
              <a:t>Quang năng → hóa năng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654296"/>
            <a:ext cx="3657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164E43"/>
                </a:solidFill>
                <a:latin typeface="Noto Sans"/>
              </a:defRPr>
            </a:pPr>
            <a:r>
              <a:t>Pháo hoa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4654296"/>
            <a:ext cx="6675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93E36"/>
                </a:solidFill>
                <a:latin typeface="Noto Sans"/>
              </a:defRPr>
            </a:pPr>
            <a:r>
              <a:t>Hóa năng → ánh sáng, âm thanh,</a:t>
            </a:r>
          </a:p>
          <a:p>
            <a:pPr>
              <a:spcAft>
                <a:spcPts val="1000"/>
              </a:spcAft>
              <a:defRPr sz="2200" b="0">
                <a:solidFill>
                  <a:srgbClr val="193E36"/>
                </a:solidFill>
                <a:latin typeface="Noto Sans"/>
              </a:defRPr>
            </a:pPr>
            <a:r>
              <a:t>nội năng và động năng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4E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228600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E8EDDB"/>
                </a:solidFill>
                <a:latin typeface="Noto Sans"/>
              </a:defRPr>
            </a:pPr>
            <a:r>
              <a:t>II. Công cơ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19088"/>
            <a:ext cx="10881360" cy="10972"/>
          </a:xfrm>
          <a:prstGeom prst="rect">
            <a:avLst/>
          </a:prstGeom>
          <a:solidFill>
            <a:srgbClr val="4A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6675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DCE6DC"/>
                </a:solidFill>
                <a:latin typeface="Noto Sans"/>
              </a:defRPr>
            </a:pPr>
            <a:r>
              <a:t>Vật lí 10  |  GV. Lê Quốc Anh  |  Lớp 23SVL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196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DCE6DC"/>
                </a:solidFill>
                <a:latin typeface="Noto Sans"/>
              </a:defRPr>
            </a:pPr>
            <a:r>
              <a:t>13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200" b="1">
                <a:solidFill>
                  <a:srgbClr val="FFFFFF"/>
                </a:solidFill>
                <a:latin typeface="Noto Sans"/>
              </a:defRPr>
            </a:pPr>
            <a:r>
              <a:t>Truyền năng lượng</a:t>
            </a:r>
          </a:p>
          <a:p>
            <a:pPr>
              <a:spcAft>
                <a:spcPts val="1000"/>
              </a:spcAft>
              <a:defRPr sz="4200" b="1">
                <a:solidFill>
                  <a:srgbClr val="FFFFFF"/>
                </a:solidFill>
                <a:latin typeface="Noto Sans"/>
              </a:defRPr>
            </a:pPr>
            <a:r>
              <a:t>bằng cách nào?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31920"/>
            <a:ext cx="978408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0">
                <a:solidFill>
                  <a:srgbClr val="E7EDE2"/>
                </a:solidFill>
                <a:latin typeface="Noto Sans"/>
              </a:defRPr>
            </a:pPr>
            <a:r>
              <a:t>Ngoài truyền nhiệt, còn cách nào để truyền năng lượng từ vật này sang vật khác?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1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6002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9202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402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603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8803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5204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1605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4805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8006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1206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4406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7607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807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38912"/>
            <a:ext cx="73152" cy="228600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1685F"/>
                </a:solidFill>
                <a:latin typeface="Noto Sans"/>
              </a:defRPr>
            </a:pPr>
            <a:r>
              <a:t>Hoạt động khám phá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886968"/>
            <a:ext cx="10927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4E43"/>
                </a:solidFill>
                <a:latin typeface="Noto Sans"/>
              </a:defRPr>
            </a:pPr>
            <a:r>
              <a:t>Thử đẩy một cuốn sách trên bàn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19088"/>
            <a:ext cx="10881360" cy="10972"/>
          </a:xfrm>
          <a:prstGeom prst="rect">
            <a:avLst/>
          </a:prstGeom>
          <a:solidFill>
            <a:srgbClr val="D6E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37960"/>
            <a:ext cx="6675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Vật lí 10  |  GV. Lê Quốc Anh  |  Lớp 23SVL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5196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14 / 25</a:t>
            </a:r>
          </a:p>
        </p:txBody>
      </p:sp>
      <p:pic>
        <p:nvPicPr>
          <p:cNvPr id="30" name="Picture 29" descr="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28800"/>
            <a:ext cx="5029200" cy="337899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77240" y="1920240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600" b="0">
                <a:solidFill>
                  <a:srgbClr val="193E36"/>
                </a:solidFill>
                <a:latin typeface="Noto Sans"/>
              </a:defRPr>
            </a:pPr>
            <a:r>
              <a:t>Dùng tay đẩy để cuốn sách dịch chuyển trên mặt bàn.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447288"/>
            <a:ext cx="82296" cy="82296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" y="3337560"/>
            <a:ext cx="5148072" cy="10241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93E36"/>
                </a:solidFill>
                <a:latin typeface="Noto Sans"/>
              </a:defRPr>
            </a:pPr>
            <a:r>
              <a:t>Lực của tay làm trạng thái chuyển động của sách thay đổi ra sao?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544568"/>
            <a:ext cx="82296" cy="82296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" y="4434840"/>
            <a:ext cx="5148072" cy="10241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93E36"/>
                </a:solidFill>
                <a:latin typeface="Noto Sans"/>
              </a:defRPr>
            </a:pPr>
            <a:r>
              <a:t>Năng lượng được truyền từ tay sang sách bằng cách nào?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1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6002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9202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402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603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8803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5204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1605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4805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8006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1206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4406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7607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807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38912"/>
            <a:ext cx="73152" cy="228600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1685F"/>
                </a:solidFill>
                <a:latin typeface="Noto Sans"/>
              </a:defRPr>
            </a:pPr>
            <a:r>
              <a:t>II. Công cơ học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886968"/>
            <a:ext cx="10927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4E43"/>
                </a:solidFill>
                <a:latin typeface="Noto Sans"/>
              </a:defRPr>
            </a:pPr>
            <a:r>
              <a:t>Công là một cách truyền năng lượng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19088"/>
            <a:ext cx="10881360" cy="10972"/>
          </a:xfrm>
          <a:prstGeom prst="rect">
            <a:avLst/>
          </a:prstGeom>
          <a:solidFill>
            <a:srgbClr val="D6E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37960"/>
            <a:ext cx="6675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Vật lí 10  |  GV. Lê Quốc Anh  |  Lớp 23SVL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5196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15 / 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1874519"/>
            <a:ext cx="105156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164E43"/>
                </a:solidFill>
                <a:latin typeface="Noto Sans"/>
              </a:defRPr>
            </a:pPr>
            <a:r>
              <a:t>Tay đẩy làm sách dịch chuyển: lực của tay đã thực hiện công lên sách.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0632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193E36"/>
                </a:solidFill>
                <a:latin typeface="Noto Sans"/>
              </a:defRPr>
            </a:pPr>
            <a:r>
              <a:t>Công là số đo phần năng lượng được truyền hoặc chuyển hóa trong quá trình thực hiện công.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480559"/>
            <a:ext cx="7132320" cy="1234440"/>
          </a:xfrm>
          <a:prstGeom prst="round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4617720"/>
            <a:ext cx="65836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200" b="1">
                <a:solidFill>
                  <a:srgbClr val="164E43"/>
                </a:solidFill>
                <a:latin typeface="Noto Sans"/>
              </a:defRPr>
            </a:pPr>
            <a:r>
              <a:t>1 J = 1 N·m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773168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193E36"/>
                </a:solidFill>
                <a:latin typeface="Noto Sans"/>
              </a:defRPr>
            </a:pPr>
            <a:r>
              <a:t>Đơn vị: jun</a:t>
            </a:r>
          </a:p>
          <a:p>
            <a:pPr>
              <a:spcAft>
                <a:spcPts val="1000"/>
              </a:spcAft>
              <a:defRPr sz="2400" b="0">
                <a:solidFill>
                  <a:srgbClr val="193E36"/>
                </a:solidFill>
                <a:latin typeface="Noto Sans"/>
              </a:defRPr>
            </a:pPr>
            <a:r>
              <a:t>Kí hiệu: J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1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6002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9202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402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603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8803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5204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1605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4805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8006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1206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4406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7607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807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38912"/>
            <a:ext cx="73152" cy="228600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1685F"/>
                </a:solidFill>
                <a:latin typeface="Noto Sans"/>
              </a:defRPr>
            </a:pPr>
            <a:r>
              <a:t>Hai trường hợp cần nhớ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886968"/>
            <a:ext cx="10927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4E43"/>
                </a:solidFill>
                <a:latin typeface="Noto Sans"/>
              </a:defRPr>
            </a:pPr>
            <a:r>
              <a:t>Khi nào công của lực bằng 0?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19088"/>
            <a:ext cx="10881360" cy="10972"/>
          </a:xfrm>
          <a:prstGeom prst="rect">
            <a:avLst/>
          </a:prstGeom>
          <a:solidFill>
            <a:srgbClr val="D6E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37960"/>
            <a:ext cx="6675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Vật lí 10  |  GV. Lê Quốc Anh  |  Lớp 23SVL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5196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16 / 25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1920240"/>
            <a:ext cx="5166360" cy="2468880"/>
          </a:xfrm>
          <a:prstGeom prst="round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2103120"/>
            <a:ext cx="474573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164E43"/>
                </a:solidFill>
                <a:latin typeface="Noto Sans"/>
              </a:defRPr>
            </a:pPr>
            <a:r>
              <a:t>Vật không dịch chuyển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" y="2971800"/>
            <a:ext cx="474573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93E36"/>
                </a:solidFill>
                <a:latin typeface="Noto Sans"/>
              </a:defRPr>
            </a:pPr>
            <a:r>
              <a:t>s = 0</a:t>
            </a:r>
          </a:p>
          <a:p>
            <a:pPr>
              <a:spcAft>
                <a:spcPts val="1000"/>
              </a:spcAft>
              <a:defRPr sz="2200" b="0">
                <a:solidFill>
                  <a:srgbClr val="193E36"/>
                </a:solidFill>
                <a:latin typeface="Noto Sans"/>
              </a:defRPr>
            </a:pPr>
            <a:r>
              <a:t>Ví dụ: Giữ sách đứng yên.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1920240"/>
            <a:ext cx="5166360" cy="2468880"/>
          </a:xfrm>
          <a:prstGeom prst="round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2" y="2103120"/>
            <a:ext cx="474573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164E43"/>
                </a:solidFill>
                <a:latin typeface="Noto Sans"/>
              </a:defRPr>
            </a:pPr>
            <a:r>
              <a:t>Lực vuông góc với dịch chuyển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2" y="2971800"/>
            <a:ext cx="474573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93E36"/>
                </a:solidFill>
                <a:latin typeface="Noto Sans"/>
              </a:defRPr>
            </a:pPr>
            <a:r>
              <a:t>α = 90°</a:t>
            </a:r>
          </a:p>
          <a:p>
            <a:pPr>
              <a:spcAft>
                <a:spcPts val="1000"/>
              </a:spcAft>
              <a:defRPr sz="2200" b="0">
                <a:solidFill>
                  <a:srgbClr val="193E36"/>
                </a:solidFill>
                <a:latin typeface="Noto Sans"/>
              </a:defRPr>
            </a:pPr>
            <a:r>
              <a:t>Ví dụ: Lực đỡ khay đi ngang.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11879" y="4617720"/>
            <a:ext cx="4937759" cy="1234440"/>
          </a:xfrm>
          <a:prstGeom prst="round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86200" y="4754880"/>
            <a:ext cx="4389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164E43"/>
                </a:solidFill>
                <a:latin typeface="Noto Sans"/>
              </a:defRPr>
            </a:pPr>
            <a:r>
              <a:t>A = 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1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6002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9202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402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603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8803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5204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1605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4805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8006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1206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4406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7607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807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38912"/>
            <a:ext cx="73152" cy="228600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1685F"/>
                </a:solidFill>
                <a:latin typeface="Noto Sans"/>
              </a:defRPr>
            </a:pPr>
            <a:r>
              <a:t>Công thức tính công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886968"/>
            <a:ext cx="10927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4E43"/>
                </a:solidFill>
                <a:latin typeface="Noto Sans"/>
              </a:defRPr>
            </a:pPr>
            <a:r>
              <a:t>Công của lực không đổi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19088"/>
            <a:ext cx="10881360" cy="10972"/>
          </a:xfrm>
          <a:prstGeom prst="rect">
            <a:avLst/>
          </a:prstGeom>
          <a:solidFill>
            <a:srgbClr val="D6E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37960"/>
            <a:ext cx="6675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Vật lí 10  |  GV. Lê Quốc Anh  |  Lớp 23SVL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5196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17 / 25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1737360"/>
            <a:ext cx="10515600" cy="1234440"/>
          </a:xfrm>
          <a:prstGeom prst="round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1874519"/>
            <a:ext cx="9966959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5400" b="1">
                <a:solidFill>
                  <a:srgbClr val="164E43"/>
                </a:solidFill>
                <a:latin typeface="Noto Sans"/>
              </a:defRPr>
            </a:pPr>
            <a:r>
              <a:t>A = F · s · cos 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401568"/>
            <a:ext cx="53949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193E36"/>
                </a:solidFill>
                <a:latin typeface="Noto Sans"/>
              </a:defRPr>
            </a:pPr>
            <a:r>
              <a:t>A: công của lực (J)</a:t>
            </a:r>
          </a:p>
          <a:p>
            <a:pPr>
              <a:spcAft>
                <a:spcPts val="1000"/>
              </a:spcAft>
              <a:defRPr sz="2400" b="0">
                <a:solidFill>
                  <a:srgbClr val="193E36"/>
                </a:solidFill>
                <a:latin typeface="Noto Sans"/>
              </a:defRPr>
            </a:pPr>
            <a:r>
              <a:t>F: độ lớn của lực (N)</a:t>
            </a:r>
          </a:p>
          <a:p>
            <a:pPr>
              <a:spcAft>
                <a:spcPts val="1000"/>
              </a:spcAft>
              <a:defRPr sz="2400" b="0">
                <a:solidFill>
                  <a:srgbClr val="193E36"/>
                </a:solidFill>
                <a:latin typeface="Noto Sans"/>
              </a:defRPr>
            </a:pPr>
            <a:r>
              <a:t>s: độ lớn độ dịch chuyển (m)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401568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93E36"/>
                </a:solidFill>
                <a:latin typeface="Noto Sans"/>
              </a:defRPr>
            </a:pPr>
            <a:r>
              <a:t>α: góc giữa lực và hướng dịch chuyển.</a:t>
            </a:r>
          </a:p>
          <a:p>
            <a:pPr>
              <a:spcAft>
                <a:spcPts val="1000"/>
              </a:spcAft>
              <a:defRPr sz="2300" b="0">
                <a:solidFill>
                  <a:srgbClr val="193E36"/>
                </a:solidFill>
                <a:latin typeface="Noto Sans"/>
              </a:defRPr>
            </a:pPr>
          </a:p>
          <a:p>
            <a:pPr>
              <a:spcAft>
                <a:spcPts val="1000"/>
              </a:spcAft>
              <a:defRPr sz="2300" b="0">
                <a:solidFill>
                  <a:srgbClr val="193E36"/>
                </a:solidFill>
                <a:latin typeface="Noto Sans"/>
              </a:defRPr>
            </a:pPr>
            <a:r>
              <a:t>Áp dụng: lực không đổi, vật dịch chuyển thẳng.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559552"/>
            <a:ext cx="10698480" cy="557784"/>
          </a:xfrm>
          <a:prstGeom prst="round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650992"/>
            <a:ext cx="10287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4E43"/>
                </a:solidFill>
                <a:latin typeface="Noto Sans"/>
              </a:defRPr>
            </a:pPr>
            <a:r>
              <a:t>Công là đại lượng vô hướng; có thể dương, âm hoặc bằng 0.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1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6002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9202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402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603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8803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5204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1605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4805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8006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1206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4406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7607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807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38912"/>
            <a:ext cx="73152" cy="228600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1685F"/>
                </a:solidFill>
                <a:latin typeface="Noto Sans"/>
              </a:defRPr>
            </a:pPr>
            <a:r>
              <a:t>Công phát động và công cản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886968"/>
            <a:ext cx="10927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4E43"/>
                </a:solidFill>
                <a:latin typeface="Noto Sans"/>
              </a:defRPr>
            </a:pPr>
            <a:r>
              <a:t>Dấu của công cho biết điều gì?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19088"/>
            <a:ext cx="10881360" cy="10972"/>
          </a:xfrm>
          <a:prstGeom prst="rect">
            <a:avLst/>
          </a:prstGeom>
          <a:solidFill>
            <a:srgbClr val="D6E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37960"/>
            <a:ext cx="6675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Vật lí 10  |  GV. Lê Quốc Anh  |  Lớp 23SVL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5196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18 / 25</a:t>
            </a:r>
          </a:p>
        </p:txBody>
      </p:sp>
      <p:pic>
        <p:nvPicPr>
          <p:cNvPr id="30" name="Picture 29" descr="sig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20240"/>
            <a:ext cx="5120640" cy="344043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77240" y="19202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164E43"/>
                </a:solidFill>
                <a:latin typeface="Noto Sans"/>
              </a:defRPr>
            </a:pPr>
            <a:r>
              <a:t>0° ≤ α &lt; 90°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2468880"/>
            <a:ext cx="5486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93E36"/>
                </a:solidFill>
                <a:latin typeface="Noto Sans"/>
              </a:defRPr>
            </a:pPr>
            <a:r>
              <a:t>A &gt; 0 · Công phát động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2461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3768A6"/>
                </a:solidFill>
                <a:latin typeface="Noto Sans"/>
              </a:defRPr>
            </a:pPr>
            <a:r>
              <a:t>α = 90°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3794759"/>
            <a:ext cx="5486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93E36"/>
                </a:solidFill>
                <a:latin typeface="Noto Sans"/>
              </a:defRPr>
            </a:pPr>
            <a:r>
              <a:t>A = 0 · Không thực hiện công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5720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A33136"/>
                </a:solidFill>
                <a:latin typeface="Noto Sans"/>
              </a:defRPr>
            </a:pPr>
            <a:r>
              <a:t>90° &lt; α ≤ 180°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120640"/>
            <a:ext cx="5486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93E36"/>
                </a:solidFill>
                <a:latin typeface="Noto Sans"/>
              </a:defRPr>
            </a:pPr>
            <a:r>
              <a:t>A &lt; 0 · Công cản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1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6002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9202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402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603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8803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5204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1605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4805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8006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1206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4406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7607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807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38912"/>
            <a:ext cx="73152" cy="228600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1685F"/>
                </a:solidFill>
                <a:latin typeface="Noto Sans"/>
              </a:defRPr>
            </a:pPr>
            <a:r>
              <a:t>Ví dụ 1 · Tự giải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886968"/>
            <a:ext cx="10927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4E43"/>
                </a:solidFill>
                <a:latin typeface="Noto Sans"/>
              </a:defRPr>
            </a:pPr>
            <a:r>
              <a:t>Kéo một thùng hàng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19088"/>
            <a:ext cx="10881360" cy="10972"/>
          </a:xfrm>
          <a:prstGeom prst="rect">
            <a:avLst/>
          </a:prstGeom>
          <a:solidFill>
            <a:srgbClr val="D6E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37960"/>
            <a:ext cx="6675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Vật lí 10  |  GV. Lê Quốc Anh  |  Lớp 23SVL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5196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19 / 25</a:t>
            </a:r>
          </a:p>
        </p:txBody>
      </p:sp>
      <p:pic>
        <p:nvPicPr>
          <p:cNvPr id="30" name="Picture 29" descr="p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20240"/>
            <a:ext cx="4937760" cy="331755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77240" y="1874519"/>
            <a:ext cx="53949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193E36"/>
                </a:solidFill>
                <a:latin typeface="Noto Sans"/>
              </a:defRPr>
            </a:pPr>
            <a:r>
              <a:t>Lực kéo không đổi: F = 50 N.</a:t>
            </a:r>
          </a:p>
          <a:p>
            <a:pPr>
              <a:spcAft>
                <a:spcPts val="1000"/>
              </a:spcAft>
              <a:defRPr sz="2400" b="0">
                <a:solidFill>
                  <a:srgbClr val="193E36"/>
                </a:solidFill>
                <a:latin typeface="Noto Sans"/>
              </a:defRPr>
            </a:pPr>
            <a:r>
              <a:t>Góc với hướng dịch chuyển: α = 60°.</a:t>
            </a:r>
          </a:p>
          <a:p>
            <a:pPr>
              <a:spcAft>
                <a:spcPts val="1000"/>
              </a:spcAft>
              <a:defRPr sz="2400" b="0">
                <a:solidFill>
                  <a:srgbClr val="193E36"/>
                </a:solidFill>
                <a:latin typeface="Noto Sans"/>
              </a:defRPr>
            </a:pPr>
            <a:r>
              <a:t>Thùng dịch chuyển thẳng: s = 4 m.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17720"/>
            <a:ext cx="5120640" cy="1005840"/>
          </a:xfrm>
          <a:prstGeom prst="round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800600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164E43"/>
                </a:solidFill>
                <a:latin typeface="Noto Sans"/>
              </a:defRPr>
            </a:pPr>
            <a:r>
              <a:t>Tính công của lực kéo.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1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6002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9202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402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603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8803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5204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1605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4805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8006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1206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4406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7607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807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38912"/>
            <a:ext cx="73152" cy="228600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1685F"/>
                </a:solidFill>
                <a:latin typeface="Noto Sans"/>
              </a:defRPr>
            </a:pPr>
            <a:r>
              <a:t>Lời giải ví dụ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886968"/>
            <a:ext cx="10927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4E43"/>
                </a:solidFill>
                <a:latin typeface="Noto Sans"/>
              </a:defRPr>
            </a:pPr>
            <a:r>
              <a:t>Từ công thức đến kết quả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19088"/>
            <a:ext cx="10881360" cy="10972"/>
          </a:xfrm>
          <a:prstGeom prst="rect">
            <a:avLst/>
          </a:prstGeom>
          <a:solidFill>
            <a:srgbClr val="D6E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37960"/>
            <a:ext cx="6675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Vật lí 10  |  GV. Lê Quốc Anh  |  Lớp 23SVL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5196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20 / 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20116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51685F"/>
                </a:solidFill>
                <a:latin typeface="Noto Sans"/>
              </a:defRPr>
            </a:pPr>
            <a:r>
              <a:t>Chọn công thức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1920240"/>
            <a:ext cx="749807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164E43"/>
                </a:solidFill>
                <a:latin typeface="Noto Sans"/>
              </a:defRPr>
            </a:pPr>
            <a:r>
              <a:t>A = F · s · cos 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1546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51685F"/>
                </a:solidFill>
                <a:latin typeface="Noto Sans"/>
              </a:defRPr>
            </a:pPr>
            <a:r>
              <a:t>Thay số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3063240"/>
            <a:ext cx="749807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164E43"/>
                </a:solidFill>
                <a:latin typeface="Noto Sans"/>
              </a:defRPr>
            </a:pPr>
            <a:r>
              <a:t>A = 50 · 4 · cos 60°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66160" y="4251959"/>
            <a:ext cx="7315200" cy="1234440"/>
          </a:xfrm>
          <a:prstGeom prst="round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0" y="4389120"/>
            <a:ext cx="67665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600" b="1">
                <a:solidFill>
                  <a:srgbClr val="164E43"/>
                </a:solidFill>
                <a:latin typeface="Noto Sans"/>
              </a:defRPr>
            </a:pPr>
            <a:r>
              <a:t>A = 100 J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7150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164E43"/>
                </a:solidFill>
                <a:latin typeface="Noto Sans"/>
              </a:defRPr>
            </a:pPr>
            <a:r>
              <a:t>A &gt; 0: lực kéo thực hiện công phát động.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1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6002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9202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402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603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8803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5204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1605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4805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8006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1206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4406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7607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807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38912"/>
            <a:ext cx="73152" cy="228600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1685F"/>
                </a:solidFill>
                <a:latin typeface="Noto Sans"/>
              </a:defRPr>
            </a:pPr>
            <a:r>
              <a:t>Ví dụ 2 · Tự giải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886968"/>
            <a:ext cx="10927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4E43"/>
                </a:solidFill>
                <a:latin typeface="Noto Sans"/>
              </a:defRPr>
            </a:pPr>
            <a:r>
              <a:t>Nâng ô tô bằng máy nâng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19088"/>
            <a:ext cx="10881360" cy="10972"/>
          </a:xfrm>
          <a:prstGeom prst="rect">
            <a:avLst/>
          </a:prstGeom>
          <a:solidFill>
            <a:srgbClr val="D6E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37960"/>
            <a:ext cx="6675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Vật lí 10  |  GV. Lê Quốc Anh  |  Lớp 23SVL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5196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21 / 25</a:t>
            </a:r>
          </a:p>
        </p:txBody>
      </p:sp>
      <p:pic>
        <p:nvPicPr>
          <p:cNvPr id="30" name="Picture 29" descr="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20240"/>
            <a:ext cx="4937760" cy="331755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77240" y="1874519"/>
            <a:ext cx="53949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164E43"/>
                </a:solidFill>
                <a:latin typeface="Noto Sans"/>
              </a:defRPr>
            </a:pPr>
            <a:r>
              <a:t>m = 1,5 tấn; h = 1,6 m.</a:t>
            </a:r>
          </a:p>
          <a:p>
            <a:pPr>
              <a:spcAft>
                <a:spcPts val="1000"/>
              </a:spcAft>
              <a:defRPr sz="2700" b="1">
                <a:solidFill>
                  <a:srgbClr val="164E43"/>
                </a:solidFill>
                <a:latin typeface="Noto Sans"/>
              </a:defRPr>
            </a:pPr>
            <a:r>
              <a:t>g = 10 m/s².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429000"/>
            <a:ext cx="53949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193E36"/>
                </a:solidFill>
                <a:latin typeface="Noto Sans"/>
              </a:defRPr>
            </a:pPr>
            <a:r>
              <a:t>Bỏ qua hao phí. Ô tô bắt đầu và kết thúc ở trạng thái nghỉ.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983480"/>
            <a:ext cx="5394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164E43"/>
                </a:solidFill>
                <a:latin typeface="Noto Sans"/>
              </a:defRPr>
            </a:pPr>
            <a:r>
              <a:t>Tính công tối thiểu của máy nâng.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1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6002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9202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402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603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8803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5204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1605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4805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8006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1206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4406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7607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807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38912"/>
            <a:ext cx="73152" cy="228600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1685F"/>
                </a:solidFill>
                <a:latin typeface="Noto Sans"/>
              </a:defRPr>
            </a:pPr>
            <a:r>
              <a:t>Lời giải ví dụ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886968"/>
            <a:ext cx="10927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4E43"/>
                </a:solidFill>
                <a:latin typeface="Noto Sans"/>
              </a:defRPr>
            </a:pPr>
            <a:r>
              <a:t>Công nâng bằng độ tăng thế năng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19088"/>
            <a:ext cx="10881360" cy="10972"/>
          </a:xfrm>
          <a:prstGeom prst="rect">
            <a:avLst/>
          </a:prstGeom>
          <a:solidFill>
            <a:srgbClr val="D6E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37960"/>
            <a:ext cx="6675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Vật lí 10  |  GV. Lê Quốc Anh  |  Lớp 23SVL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5196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22 / 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1874519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600" b="0">
                <a:solidFill>
                  <a:srgbClr val="193E36"/>
                </a:solidFill>
                <a:latin typeface="Noto Sans"/>
              </a:defRPr>
            </a:pPr>
            <a:r>
              <a:t>Đổi đơn vị: m = 1,5 tấn = 1 500 kg.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278892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164E43"/>
                </a:solidFill>
                <a:latin typeface="Noto Sans"/>
              </a:defRPr>
            </a:pPr>
            <a:r>
              <a:t>A = mgh = 1 500 · 10 · 1,6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3931920"/>
            <a:ext cx="10424160" cy="1234440"/>
          </a:xfrm>
          <a:prstGeom prst="round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4069080"/>
            <a:ext cx="9875519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300" b="1">
                <a:solidFill>
                  <a:srgbClr val="164E43"/>
                </a:solidFill>
                <a:latin typeface="Noto Sans"/>
              </a:defRPr>
            </a:pPr>
            <a:r>
              <a:t>A = 24 000 J = 24 kJ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632704"/>
            <a:ext cx="10469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93E36"/>
                </a:solidFill>
                <a:latin typeface="Noto Sans"/>
              </a:defRPr>
            </a:pPr>
            <a:r>
              <a:t>Không hao phí, động năng đầu và cuối bằng nhau: A = ΔWₜ.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1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6002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9202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402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603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8803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5204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1605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4805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8006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1206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4406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7607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807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38912"/>
            <a:ext cx="73152" cy="228600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1685F"/>
                </a:solidFill>
                <a:latin typeface="Noto Sans"/>
              </a:defRPr>
            </a:pPr>
            <a:r>
              <a:t>Vận dụng kiến thức vừa học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886968"/>
            <a:ext cx="10927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4E43"/>
                </a:solidFill>
                <a:latin typeface="Noto Sans"/>
              </a:defRPr>
            </a:pPr>
            <a:r>
              <a:t>Nhìn lại những thử thách mở đầu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19088"/>
            <a:ext cx="10881360" cy="10972"/>
          </a:xfrm>
          <a:prstGeom prst="rect">
            <a:avLst/>
          </a:prstGeom>
          <a:solidFill>
            <a:srgbClr val="D6E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37960"/>
            <a:ext cx="6675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Vật lí 10  |  GV. Lê Quốc Anh  |  Lớp 23SVL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5196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23 / 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1792224"/>
            <a:ext cx="10698480" cy="457200"/>
          </a:xfrm>
          <a:prstGeom prst="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1810512"/>
            <a:ext cx="42976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64E43"/>
                </a:solidFill>
                <a:latin typeface="Noto Sans"/>
              </a:defRPr>
            </a:pPr>
            <a:r>
              <a:t>Ấm điện đun nước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1810512"/>
            <a:ext cx="56692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93E36"/>
                </a:solidFill>
                <a:latin typeface="Noto Sans"/>
              </a:defRPr>
            </a:pPr>
            <a:r>
              <a:t>Điện năng → nội năng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2295144"/>
            <a:ext cx="42976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64E43"/>
                </a:solidFill>
                <a:latin typeface="Noto Sans"/>
              </a:defRPr>
            </a:pPr>
            <a:r>
              <a:t>Xoa hai bàn tay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2295144"/>
            <a:ext cx="56692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93E36"/>
                </a:solidFill>
                <a:latin typeface="Noto Sans"/>
              </a:defRPr>
            </a:pPr>
            <a:r>
              <a:t>Cơ năng → nội năng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2761488"/>
            <a:ext cx="10698480" cy="457200"/>
          </a:xfrm>
          <a:prstGeom prst="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2779776"/>
            <a:ext cx="42976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64E43"/>
                </a:solidFill>
                <a:latin typeface="Noto Sans"/>
              </a:defRPr>
            </a:pPr>
            <a:r>
              <a:t>Bóng nảy thấp dần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2779776"/>
            <a:ext cx="56692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93E36"/>
                </a:solidFill>
                <a:latin typeface="Noto Sans"/>
              </a:defRPr>
            </a:pPr>
            <a:r>
              <a:t>Cơ năng → nội năng, âm thanh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3264408"/>
            <a:ext cx="42976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64E43"/>
                </a:solidFill>
                <a:latin typeface="Noto Sans"/>
              </a:defRPr>
            </a:pPr>
            <a:r>
              <a:t>Pin mặt trời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3264408"/>
            <a:ext cx="56692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93E36"/>
                </a:solidFill>
                <a:latin typeface="Noto Sans"/>
              </a:defRPr>
            </a:pPr>
            <a:r>
              <a:t>Quang năng → điện năng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3730752"/>
            <a:ext cx="10698480" cy="457200"/>
          </a:xfrm>
          <a:prstGeom prst="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3749039"/>
            <a:ext cx="42976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64E43"/>
                </a:solidFill>
                <a:latin typeface="Noto Sans"/>
              </a:defRPr>
            </a:pPr>
            <a:r>
              <a:t>Quạt điện quay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4960" y="3749039"/>
            <a:ext cx="56692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93E36"/>
                </a:solidFill>
                <a:latin typeface="Noto Sans"/>
              </a:defRPr>
            </a:pPr>
            <a:r>
              <a:t>Điện năng → cơ năng (chủ yếu)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" y="4233672"/>
            <a:ext cx="42976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64E43"/>
                </a:solidFill>
                <a:latin typeface="Noto Sans"/>
              </a:defRPr>
            </a:pPr>
            <a:r>
              <a:t>Tay đẩy sách trượt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0" y="4233672"/>
            <a:ext cx="56692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93E36"/>
                </a:solidFill>
                <a:latin typeface="Noto Sans"/>
              </a:defRPr>
            </a:pPr>
            <a:r>
              <a:t>Lực tay thực hiện công lên sách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700016"/>
            <a:ext cx="10698480" cy="457200"/>
          </a:xfrm>
          <a:prstGeom prst="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6112" y="4718304"/>
            <a:ext cx="42976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64E43"/>
                </a:solidFill>
                <a:latin typeface="Noto Sans"/>
              </a:defRPr>
            </a:pPr>
            <a:r>
              <a:t>Máy nâng ô tô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4960" y="4718304"/>
            <a:ext cx="56692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93E36"/>
                </a:solidFill>
                <a:latin typeface="Noto Sans"/>
              </a:defRPr>
            </a:pPr>
            <a:r>
              <a:t>Máy thực hiện công để nâng ô tô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5623560"/>
            <a:ext cx="10698480" cy="557784"/>
          </a:xfrm>
          <a:prstGeom prst="round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5715000"/>
            <a:ext cx="10287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4E43"/>
                </a:solidFill>
                <a:latin typeface="Noto Sans"/>
              </a:defRPr>
            </a:pPr>
            <a:r>
              <a:t>Năng lượng truyền và chuyển hóa; thực hiện công là một cách truyền năng lượng.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1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6002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9202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402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603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88036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52043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1605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4805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8006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1206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44067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76072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80759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91695" cy="5486"/>
          </a:xfrm>
          <a:prstGeom prst="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38912"/>
            <a:ext cx="73152" cy="228600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1685F"/>
                </a:solidFill>
                <a:latin typeface="Noto Sans"/>
              </a:defRPr>
            </a:pPr>
            <a:r>
              <a:t>Củng cố · Tự kiểm tra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886968"/>
            <a:ext cx="10927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4E43"/>
                </a:solidFill>
                <a:latin typeface="Noto Sans"/>
              </a:defRPr>
            </a:pPr>
            <a:r>
              <a:t>Em đã nắm được những gì?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19088"/>
            <a:ext cx="10881360" cy="10972"/>
          </a:xfrm>
          <a:prstGeom prst="rect">
            <a:avLst/>
          </a:prstGeom>
          <a:solidFill>
            <a:srgbClr val="D6E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37960"/>
            <a:ext cx="6675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Vật lí 10  |  GV. Lê Quốc Anh  |  Lớp 23SVL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5196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1685F"/>
                </a:solidFill>
                <a:latin typeface="Noto Sans"/>
              </a:defRPr>
            </a:pPr>
            <a:r>
              <a:t>24 / 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1920240"/>
            <a:ext cx="548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3768A6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1920240"/>
            <a:ext cx="97840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93E36"/>
                </a:solidFill>
                <a:latin typeface="Noto Sans"/>
              </a:defRPr>
            </a:pPr>
            <a:r>
              <a:t>Năng lượng có thể truyền và chuyển hóa như thế nào?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2834640"/>
            <a:ext cx="548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3768A6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2834640"/>
            <a:ext cx="97840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93E36"/>
                </a:solidFill>
                <a:latin typeface="Noto Sans"/>
              </a:defRPr>
            </a:pPr>
            <a:r>
              <a:t>Phát biểu định luật bảo toàn năng lượng.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3749039"/>
            <a:ext cx="548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3768A6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3749039"/>
            <a:ext cx="97840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93E36"/>
                </a:solidFill>
                <a:latin typeface="Noto Sans"/>
              </a:defRPr>
            </a:pPr>
            <a:r>
              <a:t>Viết công thức tính công của lực không đổi và nêu đơn vị.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663440"/>
            <a:ext cx="548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3768A6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8760" y="4663440"/>
            <a:ext cx="97840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93E36"/>
                </a:solidFill>
                <a:latin typeface="Noto Sans"/>
              </a:defRPr>
            </a:pPr>
            <a:r>
              <a:t>Khi nào công của lực dương, âm hoặc bằng 0?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4E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228600"/>
          </a:xfrm>
          <a:prstGeom prst="rect">
            <a:avLst/>
          </a:prstGeom>
          <a:solidFill>
            <a:srgbClr val="EF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65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E8EDDB"/>
                </a:solidFill>
                <a:latin typeface="Noto Sans"/>
              </a:defRPr>
            </a:pPr>
            <a:r>
              <a:t>Nhiệm vụ sau bài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86968"/>
            <a:ext cx="10927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FFFFFF"/>
                </a:solidFill>
                <a:latin typeface="Noto Sans"/>
              </a:defRPr>
            </a:pPr>
            <a:r>
              <a:t>Mang Vật lí về nhà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881360" cy="10972"/>
          </a:xfrm>
          <a:prstGeom prst="rect">
            <a:avLst/>
          </a:prstGeom>
          <a:solidFill>
            <a:srgbClr val="4A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6675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DCE6DC"/>
                </a:solidFill>
                <a:latin typeface="Noto Sans"/>
              </a:defRPr>
            </a:pPr>
            <a:r>
              <a:t>Vật lí 10  |  GV. Lê Quốc Anh  |  Lớp 23SVL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196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DCE6DC"/>
                </a:solidFill>
                <a:latin typeface="Noto Sans"/>
              </a:defRPr>
            </a:pPr>
            <a:r>
              <a:t>25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548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3D683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920240"/>
            <a:ext cx="950976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FFFFFF"/>
                </a:solidFill>
                <a:latin typeface="Noto Sans"/>
              </a:defRPr>
            </a:pPr>
            <a:r>
              <a:t>Tìm hai ví dụ về sự truyền hoặc chuyển hóa năng lượng trong đời sống.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548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3D683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154680"/>
            <a:ext cx="950976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FFFFFF"/>
                </a:solidFill>
                <a:latin typeface="Noto Sans"/>
              </a:defRPr>
            </a:pPr>
            <a:r>
              <a:t>Làm các bài tập về công cơ học trong sách giáo khoa.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89120"/>
            <a:ext cx="548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3D683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389120"/>
            <a:ext cx="950976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FFFFFF"/>
                </a:solidFill>
                <a:latin typeface="Noto Sans"/>
              </a:defRPr>
            </a:pPr>
            <a:r>
              <a:t>Chuẩn bị nội dung bài học tiếp theo.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23. Năng lượng và công cơ học</dc:title>
  <dc:subject>Vật lí 10 – Kết nối tri thức với cuộc sống</dc:subject>
  <dc:creator>Lê Quốc Anh</dc:creator>
  <cp:keywords>Vật lí 10, năng lượng, công cơ học, 23SVL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